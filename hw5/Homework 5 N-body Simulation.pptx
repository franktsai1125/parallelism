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Proxima Nova"/>
      <p:regular r:id="rId40"/>
      <p:bold r:id="rId41"/>
      <p:italic r:id="rId42"/>
      <p:boldItalic r:id="rId43"/>
    </p:embeddedFont>
    <p:embeddedFont>
      <p:font typeface="Overpass"/>
      <p:regular r:id="rId44"/>
      <p:bold r:id="rId45"/>
      <p:italic r:id="rId46"/>
      <p:boldItalic r:id="rId47"/>
    </p:embeddedFont>
    <p:embeddedFont>
      <p:font typeface="Roboto Condensed"/>
      <p:regular r:id="rId48"/>
      <p:bold r:id="rId49"/>
      <p:italic r:id="rId50"/>
      <p:boldItalic r:id="rId51"/>
    </p:embeddedFont>
    <p:embeddedFont>
      <p:font typeface="Roboto Mon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6" roundtripDataSignature="AMtx7mhGID+DoGQoj3mpyapcoPGZVPQ6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regular.fntdata"/><Relationship Id="rId42" Type="http://schemas.openxmlformats.org/officeDocument/2006/relationships/font" Target="fonts/ProximaNova-italic.fntdata"/><Relationship Id="rId41" Type="http://schemas.openxmlformats.org/officeDocument/2006/relationships/font" Target="fonts/ProximaNova-bold.fntdata"/><Relationship Id="rId44" Type="http://schemas.openxmlformats.org/officeDocument/2006/relationships/font" Target="fonts/Overpass-regular.fntdata"/><Relationship Id="rId43" Type="http://schemas.openxmlformats.org/officeDocument/2006/relationships/font" Target="fonts/ProximaNova-boldItalic.fntdata"/><Relationship Id="rId46" Type="http://schemas.openxmlformats.org/officeDocument/2006/relationships/font" Target="fonts/Overpass-italic.fntdata"/><Relationship Id="rId45" Type="http://schemas.openxmlformats.org/officeDocument/2006/relationships/font" Target="fonts/Overpas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Condensed-regular.fntdata"/><Relationship Id="rId47" Type="http://schemas.openxmlformats.org/officeDocument/2006/relationships/font" Target="fonts/Overpass-boldItalic.fntdata"/><Relationship Id="rId49" Type="http://schemas.openxmlformats.org/officeDocument/2006/relationships/font" Target="fonts/RobotoCondense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Condensed-boldItalic.fntdata"/><Relationship Id="rId50" Type="http://schemas.openxmlformats.org/officeDocument/2006/relationships/font" Target="fonts/RobotoCondensed-italic.fntdata"/><Relationship Id="rId53" Type="http://schemas.openxmlformats.org/officeDocument/2006/relationships/font" Target="fonts/RobotoMono-bold.fntdata"/><Relationship Id="rId52" Type="http://schemas.openxmlformats.org/officeDocument/2006/relationships/font" Target="fonts/RobotoMono-regular.fntdata"/><Relationship Id="rId11" Type="http://schemas.openxmlformats.org/officeDocument/2006/relationships/slide" Target="slides/slide6.xml"/><Relationship Id="rId55" Type="http://schemas.openxmlformats.org/officeDocument/2006/relationships/font" Target="fonts/RobotoMono-boldItalic.fntdata"/><Relationship Id="rId10" Type="http://schemas.openxmlformats.org/officeDocument/2006/relationships/slide" Target="slides/slide5.xml"/><Relationship Id="rId54"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980c2f05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31980c2f05e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1980c2f05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g31980c2f05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980c2f05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31980c2f05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980c2f05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1980c2f05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a076106a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1a076106ab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975ea39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9975ea39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600"/>
              </a:spcBef>
              <a:spcAft>
                <a:spcPts val="0"/>
              </a:spcAft>
              <a:buSzPts val="1800"/>
              <a:buChar char="○"/>
              <a:defRPr sz="1800"/>
            </a:lvl2pPr>
            <a:lvl3pPr indent="-342900" lvl="2" marL="1371600" algn="l">
              <a:lnSpc>
                <a:spcPct val="115000"/>
              </a:lnSpc>
              <a:spcBef>
                <a:spcPts val="1600"/>
              </a:spcBef>
              <a:spcAft>
                <a:spcPts val="0"/>
              </a:spcAft>
              <a:buSzPts val="1800"/>
              <a:buChar char="■"/>
              <a:defRPr sz="1800"/>
            </a:lvl3pPr>
            <a:lvl4pPr indent="-342900" lvl="3" marL="1828800" algn="l">
              <a:lnSpc>
                <a:spcPct val="115000"/>
              </a:lnSpc>
              <a:spcBef>
                <a:spcPts val="1600"/>
              </a:spcBef>
              <a:spcAft>
                <a:spcPts val="0"/>
              </a:spcAft>
              <a:buSzPts val="1800"/>
              <a:buChar char="●"/>
              <a:defRPr sz="1800"/>
            </a:lvl4pPr>
            <a:lvl5pPr indent="-342900" lvl="4" marL="2286000" algn="l">
              <a:lnSpc>
                <a:spcPct val="115000"/>
              </a:lnSpc>
              <a:spcBef>
                <a:spcPts val="1600"/>
              </a:spcBef>
              <a:spcAft>
                <a:spcPts val="0"/>
              </a:spcAft>
              <a:buSzPts val="1800"/>
              <a:buChar char="○"/>
              <a:defRPr sz="1800"/>
            </a:lvl5pPr>
            <a:lvl6pPr indent="-342900" lvl="5" marL="2743200" algn="l">
              <a:lnSpc>
                <a:spcPct val="115000"/>
              </a:lnSpc>
              <a:spcBef>
                <a:spcPts val="1600"/>
              </a:spcBef>
              <a:spcAft>
                <a:spcPts val="0"/>
              </a:spcAft>
              <a:buSzPts val="1800"/>
              <a:buChar char="■"/>
              <a:defRPr sz="1800"/>
            </a:lvl6pPr>
            <a:lvl7pPr indent="-342900" lvl="6" marL="3200400" algn="l">
              <a:lnSpc>
                <a:spcPct val="115000"/>
              </a:lnSpc>
              <a:spcBef>
                <a:spcPts val="1600"/>
              </a:spcBef>
              <a:spcAft>
                <a:spcPts val="0"/>
              </a:spcAft>
              <a:buSzPts val="1800"/>
              <a:buChar char="●"/>
              <a:defRPr sz="1800"/>
            </a:lvl7pPr>
            <a:lvl8pPr indent="-342900" lvl="7" marL="3657600" algn="l">
              <a:lnSpc>
                <a:spcPct val="115000"/>
              </a:lnSpc>
              <a:spcBef>
                <a:spcPts val="1600"/>
              </a:spcBef>
              <a:spcAft>
                <a:spcPts val="0"/>
              </a:spcAft>
              <a:buSzPts val="1800"/>
              <a:buChar char="○"/>
              <a:defRPr sz="1800"/>
            </a:lvl8pPr>
            <a:lvl9pPr indent="-342900" lvl="8" marL="4114800" algn="l">
              <a:lnSpc>
                <a:spcPct val="115000"/>
              </a:lnSpc>
              <a:spcBef>
                <a:spcPts val="1600"/>
              </a:spcBef>
              <a:spcAft>
                <a:spcPts val="1600"/>
              </a:spcAft>
              <a:buSzPts val="1800"/>
              <a:buChar char="■"/>
              <a:defRPr sz="1800"/>
            </a:lvl9pPr>
          </a:lstStyle>
          <a:p/>
        </p:txBody>
      </p:sp>
      <p:sp>
        <p:nvSpPr>
          <p:cNvPr id="19" name="Google Shape;19;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3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8"/>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8"/>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solidFill>
                  <a:schemeClr val="dk1"/>
                </a:solidFill>
              </a:defRPr>
            </a:lvl1pPr>
            <a:lvl2pPr indent="-317500" lvl="1" marL="914400" algn="l">
              <a:lnSpc>
                <a:spcPct val="115000"/>
              </a:lnSpc>
              <a:spcBef>
                <a:spcPts val="1600"/>
              </a:spcBef>
              <a:spcAft>
                <a:spcPts val="0"/>
              </a:spcAft>
              <a:buClr>
                <a:schemeClr val="dk1"/>
              </a:buClr>
              <a:buSzPts val="1400"/>
              <a:buChar char="○"/>
              <a:defRPr>
                <a:solidFill>
                  <a:schemeClr val="dk1"/>
                </a:solidFill>
              </a:defRPr>
            </a:lvl2pPr>
            <a:lvl3pPr indent="-317500" lvl="2" marL="1371600" algn="l">
              <a:lnSpc>
                <a:spcPct val="115000"/>
              </a:lnSpc>
              <a:spcBef>
                <a:spcPts val="1600"/>
              </a:spcBef>
              <a:spcAft>
                <a:spcPts val="0"/>
              </a:spcAft>
              <a:buClr>
                <a:schemeClr val="dk1"/>
              </a:buClr>
              <a:buSzPts val="1400"/>
              <a:buChar char="■"/>
              <a:defRPr>
                <a:solidFill>
                  <a:schemeClr val="dk1"/>
                </a:solidFill>
              </a:defRPr>
            </a:lvl3pPr>
            <a:lvl4pPr indent="-317500" lvl="3" marL="1828800" algn="l">
              <a:lnSpc>
                <a:spcPct val="115000"/>
              </a:lnSpc>
              <a:spcBef>
                <a:spcPts val="1600"/>
              </a:spcBef>
              <a:spcAft>
                <a:spcPts val="0"/>
              </a:spcAft>
              <a:buClr>
                <a:schemeClr val="dk1"/>
              </a:buClr>
              <a:buSzPts val="1400"/>
              <a:buChar char="●"/>
              <a:defRPr>
                <a:solidFill>
                  <a:schemeClr val="dk1"/>
                </a:solidFill>
              </a:defRPr>
            </a:lvl4pPr>
            <a:lvl5pPr indent="-317500" lvl="4" marL="2286000" algn="l">
              <a:lnSpc>
                <a:spcPct val="115000"/>
              </a:lnSpc>
              <a:spcBef>
                <a:spcPts val="1600"/>
              </a:spcBef>
              <a:spcAft>
                <a:spcPts val="0"/>
              </a:spcAft>
              <a:buClr>
                <a:schemeClr val="dk1"/>
              </a:buClr>
              <a:buSzPts val="1400"/>
              <a:buChar char="○"/>
              <a:defRPr>
                <a:solidFill>
                  <a:schemeClr val="dk1"/>
                </a:solidFill>
              </a:defRPr>
            </a:lvl5pPr>
            <a:lvl6pPr indent="-317500" lvl="5" marL="2743200" algn="l">
              <a:lnSpc>
                <a:spcPct val="115000"/>
              </a:lnSpc>
              <a:spcBef>
                <a:spcPts val="1600"/>
              </a:spcBef>
              <a:spcAft>
                <a:spcPts val="0"/>
              </a:spcAft>
              <a:buClr>
                <a:schemeClr val="dk1"/>
              </a:buClr>
              <a:buSzPts val="1400"/>
              <a:buChar char="■"/>
              <a:defRPr>
                <a:solidFill>
                  <a:schemeClr val="dk1"/>
                </a:solidFill>
              </a:defRPr>
            </a:lvl6pPr>
            <a:lvl7pPr indent="-317500" lvl="6" marL="3200400" algn="l">
              <a:lnSpc>
                <a:spcPct val="115000"/>
              </a:lnSpc>
              <a:spcBef>
                <a:spcPts val="1600"/>
              </a:spcBef>
              <a:spcAft>
                <a:spcPts val="0"/>
              </a:spcAft>
              <a:buClr>
                <a:schemeClr val="dk1"/>
              </a:buClr>
              <a:buSzPts val="1400"/>
              <a:buChar char="●"/>
              <a:defRPr>
                <a:solidFill>
                  <a:schemeClr val="dk1"/>
                </a:solidFill>
              </a:defRPr>
            </a:lvl7pPr>
            <a:lvl8pPr indent="-317500" lvl="7" marL="3657600" algn="l">
              <a:lnSpc>
                <a:spcPct val="115000"/>
              </a:lnSpc>
              <a:spcBef>
                <a:spcPts val="1600"/>
              </a:spcBef>
              <a:spcAft>
                <a:spcPts val="0"/>
              </a:spcAft>
              <a:buClr>
                <a:schemeClr val="dk1"/>
              </a:buClr>
              <a:buSzPts val="1400"/>
              <a:buChar char="○"/>
              <a:defRPr>
                <a:solidFill>
                  <a:schemeClr val="dk1"/>
                </a:solidFill>
              </a:defRPr>
            </a:lvl8pPr>
            <a:lvl9pPr indent="-317500" lvl="8" marL="4114800" algn="l">
              <a:lnSpc>
                <a:spcPct val="115000"/>
              </a:lnSpc>
              <a:spcBef>
                <a:spcPts val="1600"/>
              </a:spcBef>
              <a:spcAft>
                <a:spcPts val="1600"/>
              </a:spcAft>
              <a:buClr>
                <a:schemeClr val="dk1"/>
              </a:buClr>
              <a:buSzPts val="1400"/>
              <a:buChar char="■"/>
              <a:defRPr>
                <a:solidFill>
                  <a:schemeClr val="dk1"/>
                </a:solidFill>
              </a:defRPr>
            </a:lvl9pPr>
          </a:lstStyle>
          <a:p/>
        </p:txBody>
      </p:sp>
      <p:sp>
        <p:nvSpPr>
          <p:cNvPr id="40" name="Google Shape;40;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1pPr>
            <a:lvl2pPr lvl="1"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2pPr>
            <a:lvl3pPr lvl="2"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3pPr>
            <a:lvl4pPr lvl="3"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4pPr>
            <a:lvl5pPr lvl="4"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5pPr>
            <a:lvl6pPr lvl="5"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6pPr>
            <a:lvl7pPr lvl="6"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7pPr>
            <a:lvl8pPr lvl="7"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8pPr>
            <a:lvl9pPr lvl="8" marR="0" rtl="0" algn="l">
              <a:lnSpc>
                <a:spcPct val="100000"/>
              </a:lnSpc>
              <a:spcBef>
                <a:spcPts val="0"/>
              </a:spcBef>
              <a:spcAft>
                <a:spcPts val="0"/>
              </a:spcAft>
              <a:buClr>
                <a:schemeClr val="dk1"/>
              </a:buClr>
              <a:buSzPts val="2800"/>
              <a:buFont typeface="Overpass"/>
              <a:buNone/>
              <a:defRPr b="0" i="0" sz="2800" u="none" cap="none" strike="noStrike">
                <a:solidFill>
                  <a:schemeClr val="dk1"/>
                </a:solidFill>
                <a:latin typeface="Overpass"/>
                <a:ea typeface="Overpass"/>
                <a:cs typeface="Overpass"/>
                <a:sym typeface="Overpass"/>
              </a:defRPr>
            </a:lvl9pPr>
          </a:lstStyle>
          <a:p/>
        </p:txBody>
      </p:sp>
      <p:sp>
        <p:nvSpPr>
          <p:cNvPr id="7" name="Google Shape;7;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accent2"/>
              </a:buClr>
              <a:buSzPts val="1800"/>
              <a:buFont typeface="Roboto Condensed"/>
              <a:buChar char="●"/>
              <a:defRPr b="0" i="0" sz="1800" u="none" cap="none" strike="noStrike">
                <a:solidFill>
                  <a:schemeClr val="accent2"/>
                </a:solidFill>
                <a:latin typeface="Roboto Condensed"/>
                <a:ea typeface="Roboto Condensed"/>
                <a:cs typeface="Roboto Condensed"/>
                <a:sym typeface="Roboto Condensed"/>
              </a:defRPr>
            </a:lvl1pPr>
            <a:lvl2pPr indent="-317500" lvl="1" marL="914400" marR="0" rtl="0" algn="l">
              <a:lnSpc>
                <a:spcPct val="115000"/>
              </a:lnSpc>
              <a:spcBef>
                <a:spcPts val="1600"/>
              </a:spcBef>
              <a:spcAft>
                <a:spcPts val="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2pPr>
            <a:lvl3pPr indent="-317500" lvl="2" marL="1371600" marR="0" rtl="0" algn="l">
              <a:lnSpc>
                <a:spcPct val="115000"/>
              </a:lnSpc>
              <a:spcBef>
                <a:spcPts val="1600"/>
              </a:spcBef>
              <a:spcAft>
                <a:spcPts val="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3pPr>
            <a:lvl4pPr indent="-317500" lvl="3" marL="1828800" marR="0" rtl="0" algn="l">
              <a:lnSpc>
                <a:spcPct val="115000"/>
              </a:lnSpc>
              <a:spcBef>
                <a:spcPts val="1600"/>
              </a:spcBef>
              <a:spcAft>
                <a:spcPts val="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4pPr>
            <a:lvl5pPr indent="-317500" lvl="4" marL="2286000" marR="0" rtl="0" algn="l">
              <a:lnSpc>
                <a:spcPct val="115000"/>
              </a:lnSpc>
              <a:spcBef>
                <a:spcPts val="1600"/>
              </a:spcBef>
              <a:spcAft>
                <a:spcPts val="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5pPr>
            <a:lvl6pPr indent="-317500" lvl="5" marL="2743200" marR="0" rtl="0" algn="l">
              <a:lnSpc>
                <a:spcPct val="115000"/>
              </a:lnSpc>
              <a:spcBef>
                <a:spcPts val="1600"/>
              </a:spcBef>
              <a:spcAft>
                <a:spcPts val="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6pPr>
            <a:lvl7pPr indent="-317500" lvl="6" marL="3200400" marR="0" rtl="0" algn="l">
              <a:lnSpc>
                <a:spcPct val="115000"/>
              </a:lnSpc>
              <a:spcBef>
                <a:spcPts val="1600"/>
              </a:spcBef>
              <a:spcAft>
                <a:spcPts val="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7pPr>
            <a:lvl8pPr indent="-317500" lvl="7" marL="3657600" marR="0" rtl="0" algn="l">
              <a:lnSpc>
                <a:spcPct val="115000"/>
              </a:lnSpc>
              <a:spcBef>
                <a:spcPts val="1600"/>
              </a:spcBef>
              <a:spcAft>
                <a:spcPts val="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8pPr>
            <a:lvl9pPr indent="-317500" lvl="8" marL="4114800" marR="0" rtl="0" algn="l">
              <a:lnSpc>
                <a:spcPct val="115000"/>
              </a:lnSpc>
              <a:spcBef>
                <a:spcPts val="1600"/>
              </a:spcBef>
              <a:spcAft>
                <a:spcPts val="1600"/>
              </a:spcAft>
              <a:buClr>
                <a:schemeClr val="accent2"/>
              </a:buClr>
              <a:buSzPts val="1400"/>
              <a:buFont typeface="Roboto Condensed"/>
              <a:buChar char="■"/>
              <a:defRPr b="0" i="0" sz="1400" u="none" cap="none" strike="noStrike">
                <a:solidFill>
                  <a:schemeClr val="accent2"/>
                </a:solidFill>
                <a:latin typeface="Roboto Condensed"/>
                <a:ea typeface="Roboto Condensed"/>
                <a:cs typeface="Roboto Condensed"/>
                <a:sym typeface="Roboto Condensed"/>
              </a:defRPr>
            </a:lvl9pPr>
          </a:lstStyle>
          <a:p/>
        </p:txBody>
      </p:sp>
      <p:sp>
        <p:nvSpPr>
          <p:cNvPr id="8" name="Google Shape;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document/d/1UziQACsxsC2rPuoIh236du2tYpOYLzwU5kEAi6fzuHg/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amdresearch.github.io/hpcfund/index.html?fbclid=IwZXh0bgNhZW0CMTEAAR29RPYVcy7aNMqV13hyMVkq7Lq99rSKYLlQ0S6CC2QPqxbZuW9BEKtHDmE_aem_Il1GxfcT-rWUyp0rUH1B-Q"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ocs.google.com/spreadsheets/d/1r6ntatIBIXDfE_z1rI3D4-xRpq7VPNw2LpciJ7bGcYs/" TargetMode="External"/><Relationship Id="rId4" Type="http://schemas.openxmlformats.org/officeDocument/2006/relationships/hyperlink" Target="https://esystem.csie.ntu.edu.tw/nalab/vp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learn.nvidia.com/dli-event?fbclid=IwZXh0bgNhZW0CMTAAYnJpZBExSWd4UVJ0VmswWkV0bUZzaHNydGMGYXBwX2lkEDIyMjAzOTE3ODgyMDA4OTIAAR4ueyCuya1u0oHUoZnaqISvm1-8DCN-k-DuEqy7UL8gKmIHJStsUqAnZEz9oA_aem_GlCsqW-OFP3wCmNvRSFU4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10493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zh-TW"/>
              <a:t>Assignment 5</a:t>
            </a:r>
            <a:endParaRPr/>
          </a:p>
          <a:p>
            <a:pPr indent="0" lvl="0" marL="0" rtl="0" algn="ctr">
              <a:lnSpc>
                <a:spcPct val="100000"/>
              </a:lnSpc>
              <a:spcBef>
                <a:spcPts val="0"/>
              </a:spcBef>
              <a:spcAft>
                <a:spcPts val="0"/>
              </a:spcAft>
              <a:buSzPts val="5200"/>
              <a:buNone/>
            </a:pPr>
            <a:r>
              <a:rPr lang="zh-TW"/>
              <a:t>N-body Simulation</a:t>
            </a:r>
            <a:endParaRPr/>
          </a:p>
        </p:txBody>
      </p:sp>
      <p:sp>
        <p:nvSpPr>
          <p:cNvPr id="55" name="Google Shape;55;p1"/>
          <p:cNvSpPr txBox="1"/>
          <p:nvPr>
            <p:ph idx="1" type="subTitle"/>
          </p:nvPr>
        </p:nvSpPr>
        <p:spPr>
          <a:xfrm>
            <a:off x="311700" y="31389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zh-TW"/>
              <a:t>Parallel Programming</a:t>
            </a:r>
            <a:endParaRPr/>
          </a:p>
          <a:p>
            <a:pPr indent="0" lvl="0" marL="0" rtl="0" algn="ctr">
              <a:lnSpc>
                <a:spcPct val="100000"/>
              </a:lnSpc>
              <a:spcBef>
                <a:spcPts val="0"/>
              </a:spcBef>
              <a:spcAft>
                <a:spcPts val="0"/>
              </a:spcAft>
              <a:buSzPts val="2800"/>
              <a:buNone/>
            </a:pPr>
            <a:br>
              <a:rPr lang="zh-TW"/>
            </a:br>
            <a:r>
              <a:rPr lang="zh-TW" sz="1800" u="sng">
                <a:solidFill>
                  <a:schemeClr val="hlink"/>
                </a:solidFill>
                <a:hlinkClick r:id="rId3"/>
              </a:rPr>
              <a:t>HW5 Specification</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g31980c2f05e_0_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zh-TW"/>
              <a:t>AMD Tutorial</a:t>
            </a:r>
            <a:endParaRPr/>
          </a:p>
        </p:txBody>
      </p:sp>
      <p:sp>
        <p:nvSpPr>
          <p:cNvPr id="61" name="Google Shape;61;g31980c2f05e_0_11"/>
          <p:cNvSpPr txBox="1"/>
          <p:nvPr/>
        </p:nvSpPr>
        <p:spPr>
          <a:xfrm>
            <a:off x="2653650" y="3349275"/>
            <a:ext cx="3836700" cy="548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zh-TW" sz="1800" u="sng" cap="none" strike="noStrike">
                <a:solidFill>
                  <a:schemeClr val="hlink"/>
                </a:solidFill>
                <a:latin typeface="Roboto Condensed"/>
                <a:ea typeface="Roboto Condensed"/>
                <a:cs typeface="Roboto Condensed"/>
                <a:sym typeface="Roboto Condensed"/>
                <a:hlinkClick r:id="rId3"/>
              </a:rPr>
              <a:t>AMD HPC User Guide</a:t>
            </a:r>
            <a:endParaRPr b="0" i="0" sz="1800" u="none" cap="none" strike="noStrike">
              <a:solidFill>
                <a:schemeClr val="accent2"/>
              </a:solidFill>
              <a:latin typeface="Roboto Condensed"/>
              <a:ea typeface="Roboto Condensed"/>
              <a:cs typeface="Roboto Condensed"/>
              <a:sym typeface="Roboto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1980c2f05e_0_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SSH</a:t>
            </a:r>
            <a:endParaRPr/>
          </a:p>
        </p:txBody>
      </p:sp>
      <p:sp>
        <p:nvSpPr>
          <p:cNvPr id="67" name="Google Shape;67;g31980c2f05e_0_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zh-TW"/>
              <a:t>Username </a:t>
            </a:r>
            <a:r>
              <a:rPr lang="zh-TW"/>
              <a:t>list: [</a:t>
            </a:r>
            <a:r>
              <a:rPr lang="zh-TW" u="sng">
                <a:solidFill>
                  <a:schemeClr val="hlink"/>
                </a:solidFill>
                <a:hlinkClick r:id="rId3"/>
              </a:rPr>
              <a:t>Link</a:t>
            </a:r>
            <a:r>
              <a:rPr lang="zh-TW"/>
              <a:t>]</a:t>
            </a:r>
            <a:br>
              <a:rPr lang="zh-TW"/>
            </a:br>
            <a:r>
              <a:rPr lang="zh-TW"/>
              <a:t>ssh &lt;username&gt;@</a:t>
            </a:r>
            <a:r>
              <a:rPr lang="zh-TW"/>
              <a:t>172.16.162.206</a:t>
            </a:r>
            <a:endParaRPr/>
          </a:p>
          <a:p>
            <a:pPr indent="0" lvl="0" marL="0" rtl="0" algn="l">
              <a:lnSpc>
                <a:spcPct val="115000"/>
              </a:lnSpc>
              <a:spcBef>
                <a:spcPts val="0"/>
              </a:spcBef>
              <a:spcAft>
                <a:spcPts val="0"/>
              </a:spcAft>
              <a:buSzPts val="1800"/>
              <a:buNone/>
            </a:pPr>
            <a:r>
              <a:rPr lang="zh-TW"/>
              <a:t>Required </a:t>
            </a:r>
            <a:r>
              <a:rPr b="1" lang="zh-TW"/>
              <a:t>CSIE VPN</a:t>
            </a:r>
            <a:r>
              <a:rPr lang="zh-TW"/>
              <a:t>: [</a:t>
            </a:r>
            <a:r>
              <a:rPr lang="zh-TW" u="sng">
                <a:solidFill>
                  <a:schemeClr val="hlink"/>
                </a:solidFill>
                <a:hlinkClick r:id="rId4"/>
              </a:rPr>
              <a:t>Link</a:t>
            </a:r>
            <a:r>
              <a:rPr lang="zh-TW"/>
              <a:t>]</a:t>
            </a:r>
            <a:endParaRPr/>
          </a:p>
          <a:p>
            <a:pPr indent="0" lvl="0" marL="0" rtl="0" algn="l">
              <a:lnSpc>
                <a:spcPct val="115000"/>
              </a:lnSpc>
              <a:spcBef>
                <a:spcPts val="0"/>
              </a:spcBef>
              <a:spcAft>
                <a:spcPts val="0"/>
              </a:spcAft>
              <a:buSzPts val="1800"/>
              <a:buNone/>
            </a:pPr>
            <a:r>
              <a:rPr lang="zh-TW"/>
              <a:t>Default Password: </a:t>
            </a:r>
            <a:r>
              <a:rPr b="1" lang="zh-TW"/>
              <a:t>csie_pp25</a:t>
            </a:r>
            <a:endParaRPr b="1"/>
          </a:p>
          <a:p>
            <a:pPr indent="0" lvl="0" marL="0" rtl="0" algn="l">
              <a:lnSpc>
                <a:spcPct val="115000"/>
              </a:lnSpc>
              <a:spcBef>
                <a:spcPts val="0"/>
              </a:spcBef>
              <a:spcAft>
                <a:spcPts val="0"/>
              </a:spcAft>
              <a:buSzPts val="1800"/>
              <a:buNone/>
            </a:pPr>
            <a:r>
              <a:rPr b="1" lang="zh-TW"/>
              <a:t>Change Your Password after first login</a:t>
            </a:r>
            <a:endParaRPr b="1"/>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31980c2f05e_0_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HIP Code</a:t>
            </a:r>
            <a:endParaRPr/>
          </a:p>
        </p:txBody>
      </p:sp>
      <p:sp>
        <p:nvSpPr>
          <p:cNvPr id="73" name="Google Shape;73;g31980c2f05e_0_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zh-TW"/>
              <a:t>Add </a:t>
            </a:r>
            <a:r>
              <a:rPr lang="zh-TW">
                <a:solidFill>
                  <a:srgbClr val="FF9900"/>
                </a:solidFill>
                <a:latin typeface="Roboto Mono"/>
                <a:ea typeface="Roboto Mono"/>
                <a:cs typeface="Roboto Mono"/>
                <a:sym typeface="Roboto Mono"/>
              </a:rPr>
              <a:t>#include "hip/hip_runtime.h"</a:t>
            </a:r>
            <a:r>
              <a:rPr lang="zh-TW"/>
              <a:t> to your .cpp file</a:t>
            </a:r>
            <a:endParaRPr/>
          </a:p>
          <a:p>
            <a:pPr indent="-342900" lvl="0" marL="457200" rtl="0" algn="l">
              <a:lnSpc>
                <a:spcPct val="115000"/>
              </a:lnSpc>
              <a:spcBef>
                <a:spcPts val="0"/>
              </a:spcBef>
              <a:spcAft>
                <a:spcPts val="0"/>
              </a:spcAft>
              <a:buSzPts val="1800"/>
              <a:buChar char="●"/>
            </a:pPr>
            <a:r>
              <a:rPr lang="zh-TW"/>
              <a:t>Replace all cudaXXXX with hipXXXX</a:t>
            </a:r>
            <a:endParaRPr/>
          </a:p>
          <a:p>
            <a:pPr indent="-342900" lvl="1" marL="914400" rtl="0" algn="l">
              <a:lnSpc>
                <a:spcPct val="115000"/>
              </a:lnSpc>
              <a:spcBef>
                <a:spcPts val="0"/>
              </a:spcBef>
              <a:spcAft>
                <a:spcPts val="0"/>
              </a:spcAft>
              <a:buSzPts val="1800"/>
              <a:buChar char="○"/>
            </a:pPr>
            <a:r>
              <a:rPr lang="zh-TW">
                <a:solidFill>
                  <a:srgbClr val="FF0000"/>
                </a:solidFill>
              </a:rPr>
              <a:t>cuda</a:t>
            </a:r>
            <a:r>
              <a:rPr lang="zh-TW"/>
              <a:t>Malloc -&gt;</a:t>
            </a:r>
            <a:r>
              <a:rPr lang="zh-TW">
                <a:solidFill>
                  <a:srgbClr val="FF0000"/>
                </a:solidFill>
              </a:rPr>
              <a:t> hip</a:t>
            </a:r>
            <a:r>
              <a:rPr lang="zh-TW"/>
              <a:t>Malloc</a:t>
            </a:r>
            <a:endParaRPr/>
          </a:p>
          <a:p>
            <a:pPr indent="-342900" lvl="1" marL="914400" rtl="0" algn="l">
              <a:lnSpc>
                <a:spcPct val="115000"/>
              </a:lnSpc>
              <a:spcBef>
                <a:spcPts val="0"/>
              </a:spcBef>
              <a:spcAft>
                <a:spcPts val="0"/>
              </a:spcAft>
              <a:buSzPts val="1800"/>
              <a:buChar char="○"/>
            </a:pPr>
            <a:r>
              <a:rPr lang="zh-TW">
                <a:solidFill>
                  <a:srgbClr val="FF0000"/>
                </a:solidFill>
              </a:rPr>
              <a:t>cuda</a:t>
            </a:r>
            <a:r>
              <a:rPr lang="zh-TW"/>
              <a:t>Memcpy -&gt; </a:t>
            </a:r>
            <a:r>
              <a:rPr lang="zh-TW">
                <a:solidFill>
                  <a:srgbClr val="FF0000"/>
                </a:solidFill>
              </a:rPr>
              <a:t>hip</a:t>
            </a:r>
            <a:r>
              <a:rPr lang="zh-TW"/>
              <a:t>Memcpy</a:t>
            </a:r>
            <a:endParaRPr/>
          </a:p>
          <a:p>
            <a:pPr indent="-342900" lvl="1" marL="914400" rtl="0" algn="l">
              <a:lnSpc>
                <a:spcPct val="115000"/>
              </a:lnSpc>
              <a:spcBef>
                <a:spcPts val="0"/>
              </a:spcBef>
              <a:spcAft>
                <a:spcPts val="0"/>
              </a:spcAft>
              <a:buSzPts val="1800"/>
              <a:buChar char="○"/>
            </a:pPr>
            <a:r>
              <a:rPr lang="zh-TW">
                <a:solidFill>
                  <a:srgbClr val="FF0000"/>
                </a:solidFill>
              </a:rPr>
              <a:t>cuda</a:t>
            </a:r>
            <a:r>
              <a:rPr lang="zh-TW"/>
              <a:t>MemcpyHostToDevice -&gt; </a:t>
            </a:r>
            <a:r>
              <a:rPr lang="zh-TW">
                <a:solidFill>
                  <a:srgbClr val="FF0000"/>
                </a:solidFill>
              </a:rPr>
              <a:t>hip</a:t>
            </a:r>
            <a:r>
              <a:rPr lang="zh-TW"/>
              <a:t>MemcpyHostToDevice</a:t>
            </a:r>
            <a:endParaRPr/>
          </a:p>
          <a:p>
            <a:pPr indent="-342900" lvl="0" marL="457200" rtl="0" algn="l">
              <a:lnSpc>
                <a:spcPct val="115000"/>
              </a:lnSpc>
              <a:spcBef>
                <a:spcPts val="0"/>
              </a:spcBef>
              <a:spcAft>
                <a:spcPts val="0"/>
              </a:spcAft>
              <a:buSzPts val="1800"/>
              <a:buChar char="●"/>
            </a:pPr>
            <a:r>
              <a:rPr lang="zh-TW"/>
              <a:t>Compile: </a:t>
            </a:r>
            <a:r>
              <a:rPr lang="zh-TW">
                <a:solidFill>
                  <a:srgbClr val="FF9900"/>
                </a:solidFill>
                <a:latin typeface="Roboto Mono"/>
                <a:ea typeface="Roboto Mono"/>
                <a:cs typeface="Roboto Mono"/>
                <a:sym typeface="Roboto Mono"/>
              </a:rPr>
              <a:t>hipcc hw5.cpp -o hw5</a:t>
            </a:r>
            <a:endParaRPr>
              <a:solidFill>
                <a:srgbClr val="FF99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1980c2f05e_0_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zh-TW"/>
              <a:t>Problem Introduction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N-body Simulation</a:t>
            </a:r>
            <a:endParaRPr/>
          </a:p>
        </p:txBody>
      </p:sp>
      <p:pic>
        <p:nvPicPr>
          <p:cNvPr id="84" name="Google Shape;84;p3"/>
          <p:cNvPicPr preferRelativeResize="0"/>
          <p:nvPr/>
        </p:nvPicPr>
        <p:blipFill rotWithShape="1">
          <a:blip r:embed="rId3">
            <a:alphaModFix/>
          </a:blip>
          <a:srcRect b="0" l="0" r="0" t="0"/>
          <a:stretch/>
        </p:blipFill>
        <p:spPr>
          <a:xfrm>
            <a:off x="837225" y="2328925"/>
            <a:ext cx="1699549" cy="1720926"/>
          </a:xfrm>
          <a:prstGeom prst="rect">
            <a:avLst/>
          </a:prstGeom>
          <a:noFill/>
          <a:ln>
            <a:noFill/>
          </a:ln>
        </p:spPr>
      </p:pic>
      <p:pic>
        <p:nvPicPr>
          <p:cNvPr id="85" name="Google Shape;85;p3"/>
          <p:cNvPicPr preferRelativeResize="0"/>
          <p:nvPr/>
        </p:nvPicPr>
        <p:blipFill rotWithShape="1">
          <a:blip r:embed="rId4">
            <a:alphaModFix/>
          </a:blip>
          <a:srcRect b="0" l="0" r="0" t="0"/>
          <a:stretch/>
        </p:blipFill>
        <p:spPr>
          <a:xfrm>
            <a:off x="3551325" y="1467825"/>
            <a:ext cx="1103924" cy="1103924"/>
          </a:xfrm>
          <a:prstGeom prst="rect">
            <a:avLst/>
          </a:prstGeom>
          <a:noFill/>
          <a:ln>
            <a:noFill/>
          </a:ln>
        </p:spPr>
      </p:pic>
      <p:pic>
        <p:nvPicPr>
          <p:cNvPr id="86" name="Google Shape;86;p3"/>
          <p:cNvPicPr preferRelativeResize="0"/>
          <p:nvPr/>
        </p:nvPicPr>
        <p:blipFill rotWithShape="1">
          <a:blip r:embed="rId5">
            <a:alphaModFix/>
          </a:blip>
          <a:srcRect b="44441" l="0" r="44600" t="0"/>
          <a:stretch/>
        </p:blipFill>
        <p:spPr>
          <a:xfrm rot="-9983082">
            <a:off x="7058599" y="3138924"/>
            <a:ext cx="1255875" cy="125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N-body Simulation: Idea</a:t>
            </a:r>
            <a:endParaRPr/>
          </a:p>
        </p:txBody>
      </p:sp>
      <p:sp>
        <p:nvSpPr>
          <p:cNvPr id="92" name="Google Shape;92;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zh-TW"/>
              <a:t>N-body is used to predict the motion of celestial bodies. We break continuous time into discrete </a:t>
            </a:r>
            <a:r>
              <a:rPr b="1" lang="zh-TW"/>
              <a:t>time steps</a:t>
            </a:r>
            <a:r>
              <a:rPr lang="zh-TW"/>
              <a:t>. The time difference of each time step is given by </a:t>
            </a:r>
            <a:r>
              <a:rPr b="1" i="1" lang="zh-TW"/>
              <a:t>Δt</a:t>
            </a:r>
            <a:r>
              <a:rPr lang="zh-TW"/>
              <a:t>.</a:t>
            </a:r>
            <a:endParaRPr/>
          </a:p>
          <a:p>
            <a:pPr indent="-342900" lvl="0" marL="457200" rtl="0" algn="l">
              <a:lnSpc>
                <a:spcPct val="115000"/>
              </a:lnSpc>
              <a:spcBef>
                <a:spcPts val="0"/>
              </a:spcBef>
              <a:spcAft>
                <a:spcPts val="0"/>
              </a:spcAft>
              <a:buSzPts val="1800"/>
              <a:buAutoNum type="arabicPeriod"/>
            </a:pPr>
            <a:r>
              <a:rPr lang="zh-TW"/>
              <a:t>At each time step:</a:t>
            </a:r>
            <a:endParaRPr/>
          </a:p>
          <a:p>
            <a:pPr indent="-342900" lvl="1" marL="914400" rtl="0" algn="l">
              <a:lnSpc>
                <a:spcPct val="115000"/>
              </a:lnSpc>
              <a:spcBef>
                <a:spcPts val="0"/>
              </a:spcBef>
              <a:spcAft>
                <a:spcPts val="0"/>
              </a:spcAft>
              <a:buSzPts val="1800"/>
              <a:buAutoNum type="alphaLcPeriod"/>
            </a:pPr>
            <a:r>
              <a:rPr lang="zh-TW"/>
              <a:t>Calculate the accelerations applied to each body.</a:t>
            </a:r>
            <a:endParaRPr/>
          </a:p>
          <a:p>
            <a:pPr indent="-342900" lvl="1" marL="914400" rtl="0" algn="l">
              <a:lnSpc>
                <a:spcPct val="115000"/>
              </a:lnSpc>
              <a:spcBef>
                <a:spcPts val="0"/>
              </a:spcBef>
              <a:spcAft>
                <a:spcPts val="0"/>
              </a:spcAft>
              <a:buSzPts val="1800"/>
              <a:buAutoNum type="alphaLcPeriod"/>
            </a:pPr>
            <a:r>
              <a:rPr lang="zh-TW"/>
              <a:t>Update the velocities using the accelerations of each body.</a:t>
            </a:r>
            <a:endParaRPr/>
          </a:p>
          <a:p>
            <a:pPr indent="-342900" lvl="1" marL="914400" rtl="0" algn="l">
              <a:lnSpc>
                <a:spcPct val="115000"/>
              </a:lnSpc>
              <a:spcBef>
                <a:spcPts val="0"/>
              </a:spcBef>
              <a:spcAft>
                <a:spcPts val="0"/>
              </a:spcAft>
              <a:buSzPts val="1800"/>
              <a:buAutoNum type="alphaLcPeriod"/>
            </a:pPr>
            <a:r>
              <a:rPr lang="zh-TW"/>
              <a:t>Update the positions using the velocities of each body.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Initial State: Positions &amp; Velocities</a:t>
            </a:r>
            <a:endParaRPr/>
          </a:p>
        </p:txBody>
      </p:sp>
      <p:pic>
        <p:nvPicPr>
          <p:cNvPr id="98" name="Google Shape;98;p5"/>
          <p:cNvPicPr preferRelativeResize="0"/>
          <p:nvPr/>
        </p:nvPicPr>
        <p:blipFill rotWithShape="1">
          <a:blip r:embed="rId3">
            <a:alphaModFix/>
          </a:blip>
          <a:srcRect b="0" l="0" r="0" t="0"/>
          <a:stretch/>
        </p:blipFill>
        <p:spPr>
          <a:xfrm>
            <a:off x="837225" y="2328925"/>
            <a:ext cx="1699549" cy="1720926"/>
          </a:xfrm>
          <a:prstGeom prst="rect">
            <a:avLst/>
          </a:prstGeom>
          <a:noFill/>
          <a:ln>
            <a:noFill/>
          </a:ln>
        </p:spPr>
      </p:pic>
      <p:pic>
        <p:nvPicPr>
          <p:cNvPr id="99" name="Google Shape;99;p5"/>
          <p:cNvPicPr preferRelativeResize="0"/>
          <p:nvPr/>
        </p:nvPicPr>
        <p:blipFill rotWithShape="1">
          <a:blip r:embed="rId4">
            <a:alphaModFix/>
          </a:blip>
          <a:srcRect b="0" l="0" r="0" t="0"/>
          <a:stretch/>
        </p:blipFill>
        <p:spPr>
          <a:xfrm>
            <a:off x="3551325" y="1467825"/>
            <a:ext cx="1103924" cy="1103924"/>
          </a:xfrm>
          <a:prstGeom prst="rect">
            <a:avLst/>
          </a:prstGeom>
          <a:noFill/>
          <a:ln>
            <a:noFill/>
          </a:ln>
        </p:spPr>
      </p:pic>
      <p:pic>
        <p:nvPicPr>
          <p:cNvPr id="100" name="Google Shape;100;p5"/>
          <p:cNvPicPr preferRelativeResize="0"/>
          <p:nvPr/>
        </p:nvPicPr>
        <p:blipFill rotWithShape="1">
          <a:blip r:embed="rId5">
            <a:alphaModFix/>
          </a:blip>
          <a:srcRect b="44441" l="0" r="44600" t="0"/>
          <a:stretch/>
        </p:blipFill>
        <p:spPr>
          <a:xfrm rot="-9983082">
            <a:off x="7058599" y="3138924"/>
            <a:ext cx="1255875" cy="1259476"/>
          </a:xfrm>
          <a:prstGeom prst="rect">
            <a:avLst/>
          </a:prstGeom>
          <a:noFill/>
          <a:ln>
            <a:noFill/>
          </a:ln>
        </p:spPr>
      </p:pic>
      <p:cxnSp>
        <p:nvCxnSpPr>
          <p:cNvPr id="101" name="Google Shape;101;p5"/>
          <p:cNvCxnSpPr/>
          <p:nvPr/>
        </p:nvCxnSpPr>
        <p:spPr>
          <a:xfrm rot="10800000">
            <a:off x="3443575" y="1089825"/>
            <a:ext cx="655800" cy="926100"/>
          </a:xfrm>
          <a:prstGeom prst="straightConnector1">
            <a:avLst/>
          </a:prstGeom>
          <a:noFill/>
          <a:ln cap="flat" cmpd="sng" w="19050">
            <a:solidFill>
              <a:schemeClr val="dk1"/>
            </a:solidFill>
            <a:prstDash val="solid"/>
            <a:round/>
            <a:headEnd len="sm" w="sm" type="none"/>
            <a:tailEnd len="med" w="med" type="triangle"/>
          </a:ln>
        </p:spPr>
      </p:cxnSp>
      <p:cxnSp>
        <p:nvCxnSpPr>
          <p:cNvPr id="102" name="Google Shape;102;p5"/>
          <p:cNvCxnSpPr/>
          <p:nvPr/>
        </p:nvCxnSpPr>
        <p:spPr>
          <a:xfrm rot="10800000">
            <a:off x="1234675" y="2912825"/>
            <a:ext cx="453300" cy="289500"/>
          </a:xfrm>
          <a:prstGeom prst="straightConnector1">
            <a:avLst/>
          </a:prstGeom>
          <a:noFill/>
          <a:ln cap="flat" cmpd="sng" w="19050">
            <a:solidFill>
              <a:schemeClr val="dk1"/>
            </a:solidFill>
            <a:prstDash val="solid"/>
            <a:round/>
            <a:headEnd len="sm" w="sm" type="none"/>
            <a:tailEnd len="med" w="med" type="triangle"/>
          </a:ln>
        </p:spPr>
      </p:cxnSp>
      <p:cxnSp>
        <p:nvCxnSpPr>
          <p:cNvPr id="103" name="Google Shape;103;p5"/>
          <p:cNvCxnSpPr/>
          <p:nvPr/>
        </p:nvCxnSpPr>
        <p:spPr>
          <a:xfrm rot="10800000">
            <a:off x="6433725" y="2257075"/>
            <a:ext cx="1041600" cy="108030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Compute Forces</a:t>
            </a:r>
            <a:endParaRPr/>
          </a:p>
        </p:txBody>
      </p:sp>
      <p:pic>
        <p:nvPicPr>
          <p:cNvPr id="109" name="Google Shape;109;p6"/>
          <p:cNvPicPr preferRelativeResize="0"/>
          <p:nvPr/>
        </p:nvPicPr>
        <p:blipFill rotWithShape="1">
          <a:blip r:embed="rId3">
            <a:alphaModFix/>
          </a:blip>
          <a:srcRect b="0" l="0" r="0" t="0"/>
          <a:stretch/>
        </p:blipFill>
        <p:spPr>
          <a:xfrm>
            <a:off x="837225" y="2328925"/>
            <a:ext cx="1699549" cy="1720926"/>
          </a:xfrm>
          <a:prstGeom prst="rect">
            <a:avLst/>
          </a:prstGeom>
          <a:noFill/>
          <a:ln>
            <a:noFill/>
          </a:ln>
        </p:spPr>
      </p:pic>
      <p:pic>
        <p:nvPicPr>
          <p:cNvPr id="110" name="Google Shape;110;p6"/>
          <p:cNvPicPr preferRelativeResize="0"/>
          <p:nvPr/>
        </p:nvPicPr>
        <p:blipFill rotWithShape="1">
          <a:blip r:embed="rId4">
            <a:alphaModFix/>
          </a:blip>
          <a:srcRect b="0" l="0" r="0" t="0"/>
          <a:stretch/>
        </p:blipFill>
        <p:spPr>
          <a:xfrm>
            <a:off x="3551325" y="1467825"/>
            <a:ext cx="1103924" cy="1103924"/>
          </a:xfrm>
          <a:prstGeom prst="rect">
            <a:avLst/>
          </a:prstGeom>
          <a:noFill/>
          <a:ln>
            <a:noFill/>
          </a:ln>
        </p:spPr>
      </p:pic>
      <p:pic>
        <p:nvPicPr>
          <p:cNvPr id="111" name="Google Shape;111;p6"/>
          <p:cNvPicPr preferRelativeResize="0"/>
          <p:nvPr/>
        </p:nvPicPr>
        <p:blipFill rotWithShape="1">
          <a:blip r:embed="rId5">
            <a:alphaModFix/>
          </a:blip>
          <a:srcRect b="44441" l="0" r="44600" t="0"/>
          <a:stretch/>
        </p:blipFill>
        <p:spPr>
          <a:xfrm rot="-9983082">
            <a:off x="7058599" y="3138924"/>
            <a:ext cx="1255875" cy="1259476"/>
          </a:xfrm>
          <a:prstGeom prst="rect">
            <a:avLst/>
          </a:prstGeom>
          <a:noFill/>
          <a:ln>
            <a:noFill/>
          </a:ln>
        </p:spPr>
      </p:pic>
      <p:cxnSp>
        <p:nvCxnSpPr>
          <p:cNvPr id="112" name="Google Shape;112;p6"/>
          <p:cNvCxnSpPr/>
          <p:nvPr/>
        </p:nvCxnSpPr>
        <p:spPr>
          <a:xfrm>
            <a:off x="4109025" y="2035225"/>
            <a:ext cx="765000" cy="327300"/>
          </a:xfrm>
          <a:prstGeom prst="straightConnector1">
            <a:avLst/>
          </a:prstGeom>
          <a:noFill/>
          <a:ln cap="flat" cmpd="sng" w="19050">
            <a:solidFill>
              <a:schemeClr val="dk1"/>
            </a:solidFill>
            <a:prstDash val="solid"/>
            <a:round/>
            <a:headEnd len="sm" w="sm" type="none"/>
            <a:tailEnd len="med" w="med" type="triangle"/>
          </a:ln>
        </p:spPr>
      </p:cxnSp>
      <p:cxnSp>
        <p:nvCxnSpPr>
          <p:cNvPr id="113" name="Google Shape;113;p6"/>
          <p:cNvCxnSpPr/>
          <p:nvPr/>
        </p:nvCxnSpPr>
        <p:spPr>
          <a:xfrm>
            <a:off x="1687975" y="3173938"/>
            <a:ext cx="655800" cy="76500"/>
          </a:xfrm>
          <a:prstGeom prst="straightConnector1">
            <a:avLst/>
          </a:prstGeom>
          <a:noFill/>
          <a:ln cap="flat" cmpd="sng" w="19050">
            <a:solidFill>
              <a:schemeClr val="dk1"/>
            </a:solidFill>
            <a:prstDash val="solid"/>
            <a:round/>
            <a:headEnd len="sm" w="sm" type="none"/>
            <a:tailEnd len="med" w="med" type="triangle"/>
          </a:ln>
        </p:spPr>
      </p:cxnSp>
      <p:cxnSp>
        <p:nvCxnSpPr>
          <p:cNvPr id="114" name="Google Shape;114;p6"/>
          <p:cNvCxnSpPr/>
          <p:nvPr/>
        </p:nvCxnSpPr>
        <p:spPr>
          <a:xfrm flipH="1">
            <a:off x="2970775" y="2015925"/>
            <a:ext cx="1128600" cy="540300"/>
          </a:xfrm>
          <a:prstGeom prst="straightConnector1">
            <a:avLst/>
          </a:prstGeom>
          <a:noFill/>
          <a:ln cap="flat" cmpd="sng" w="19050">
            <a:solidFill>
              <a:schemeClr val="dk1"/>
            </a:solidFill>
            <a:prstDash val="solid"/>
            <a:round/>
            <a:headEnd len="sm" w="sm" type="none"/>
            <a:tailEnd len="med" w="med" type="triangle"/>
          </a:ln>
        </p:spPr>
      </p:cxnSp>
      <p:cxnSp>
        <p:nvCxnSpPr>
          <p:cNvPr id="115" name="Google Shape;115;p6"/>
          <p:cNvCxnSpPr/>
          <p:nvPr/>
        </p:nvCxnSpPr>
        <p:spPr>
          <a:xfrm flipH="1" rot="10800000">
            <a:off x="1687975" y="2739425"/>
            <a:ext cx="819900" cy="462900"/>
          </a:xfrm>
          <a:prstGeom prst="straightConnector1">
            <a:avLst/>
          </a:prstGeom>
          <a:noFill/>
          <a:ln cap="flat" cmpd="sng" w="19050">
            <a:solidFill>
              <a:schemeClr val="dk1"/>
            </a:solidFill>
            <a:prstDash val="solid"/>
            <a:round/>
            <a:headEnd len="sm" w="sm" type="none"/>
            <a:tailEnd len="med" w="med" type="triangle"/>
          </a:ln>
        </p:spPr>
      </p:cxnSp>
      <p:cxnSp>
        <p:nvCxnSpPr>
          <p:cNvPr id="116" name="Google Shape;116;p6"/>
          <p:cNvCxnSpPr/>
          <p:nvPr/>
        </p:nvCxnSpPr>
        <p:spPr>
          <a:xfrm flipH="1">
            <a:off x="6289025" y="3366300"/>
            <a:ext cx="1167000" cy="29100"/>
          </a:xfrm>
          <a:prstGeom prst="straightConnector1">
            <a:avLst/>
          </a:prstGeom>
          <a:noFill/>
          <a:ln cap="flat" cmpd="sng" w="19050">
            <a:solidFill>
              <a:schemeClr val="dk1"/>
            </a:solidFill>
            <a:prstDash val="solid"/>
            <a:round/>
            <a:headEnd len="sm" w="sm" type="none"/>
            <a:tailEnd len="med" w="med" type="triangle"/>
          </a:ln>
        </p:spPr>
      </p:cxnSp>
      <p:cxnSp>
        <p:nvCxnSpPr>
          <p:cNvPr id="117" name="Google Shape;117;p6"/>
          <p:cNvCxnSpPr/>
          <p:nvPr/>
        </p:nvCxnSpPr>
        <p:spPr>
          <a:xfrm rot="10800000">
            <a:off x="6829125" y="2951575"/>
            <a:ext cx="646200" cy="38580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Compute Forces</a:t>
            </a:r>
            <a:endParaRPr/>
          </a:p>
        </p:txBody>
      </p:sp>
      <p:pic>
        <p:nvPicPr>
          <p:cNvPr id="123" name="Google Shape;123;p7"/>
          <p:cNvPicPr preferRelativeResize="0"/>
          <p:nvPr/>
        </p:nvPicPr>
        <p:blipFill rotWithShape="1">
          <a:blip r:embed="rId3">
            <a:alphaModFix/>
          </a:blip>
          <a:srcRect b="0" l="0" r="0" t="0"/>
          <a:stretch/>
        </p:blipFill>
        <p:spPr>
          <a:xfrm>
            <a:off x="837225" y="2328925"/>
            <a:ext cx="1699549" cy="1720926"/>
          </a:xfrm>
          <a:prstGeom prst="rect">
            <a:avLst/>
          </a:prstGeom>
          <a:noFill/>
          <a:ln>
            <a:noFill/>
          </a:ln>
        </p:spPr>
      </p:pic>
      <p:pic>
        <p:nvPicPr>
          <p:cNvPr id="124" name="Google Shape;124;p7"/>
          <p:cNvPicPr preferRelativeResize="0"/>
          <p:nvPr/>
        </p:nvPicPr>
        <p:blipFill rotWithShape="1">
          <a:blip r:embed="rId4">
            <a:alphaModFix/>
          </a:blip>
          <a:srcRect b="0" l="0" r="0" t="0"/>
          <a:stretch/>
        </p:blipFill>
        <p:spPr>
          <a:xfrm>
            <a:off x="3551325" y="1467825"/>
            <a:ext cx="1103924" cy="1103924"/>
          </a:xfrm>
          <a:prstGeom prst="rect">
            <a:avLst/>
          </a:prstGeom>
          <a:noFill/>
          <a:ln>
            <a:noFill/>
          </a:ln>
        </p:spPr>
      </p:pic>
      <p:pic>
        <p:nvPicPr>
          <p:cNvPr id="125" name="Google Shape;125;p7"/>
          <p:cNvPicPr preferRelativeResize="0"/>
          <p:nvPr/>
        </p:nvPicPr>
        <p:blipFill rotWithShape="1">
          <a:blip r:embed="rId5">
            <a:alphaModFix/>
          </a:blip>
          <a:srcRect b="44441" l="0" r="44600" t="0"/>
          <a:stretch/>
        </p:blipFill>
        <p:spPr>
          <a:xfrm rot="-9983082">
            <a:off x="7058599" y="3138924"/>
            <a:ext cx="1255875" cy="1259476"/>
          </a:xfrm>
          <a:prstGeom prst="rect">
            <a:avLst/>
          </a:prstGeom>
          <a:noFill/>
          <a:ln>
            <a:noFill/>
          </a:ln>
        </p:spPr>
      </p:pic>
      <p:cxnSp>
        <p:nvCxnSpPr>
          <p:cNvPr id="126" name="Google Shape;126;p7"/>
          <p:cNvCxnSpPr/>
          <p:nvPr/>
        </p:nvCxnSpPr>
        <p:spPr>
          <a:xfrm flipH="1">
            <a:off x="3781125" y="2035225"/>
            <a:ext cx="327900" cy="877800"/>
          </a:xfrm>
          <a:prstGeom prst="straightConnector1">
            <a:avLst/>
          </a:prstGeom>
          <a:noFill/>
          <a:ln cap="flat" cmpd="sng" w="19050">
            <a:solidFill>
              <a:srgbClr val="E06666"/>
            </a:solidFill>
            <a:prstDash val="solid"/>
            <a:round/>
            <a:headEnd len="sm" w="sm" type="none"/>
            <a:tailEnd len="med" w="med" type="triangle"/>
          </a:ln>
        </p:spPr>
      </p:cxnSp>
      <p:cxnSp>
        <p:nvCxnSpPr>
          <p:cNvPr id="127" name="Google Shape;127;p7"/>
          <p:cNvCxnSpPr/>
          <p:nvPr/>
        </p:nvCxnSpPr>
        <p:spPr>
          <a:xfrm flipH="1" rot="10800000">
            <a:off x="1687975" y="2835725"/>
            <a:ext cx="1389000" cy="366600"/>
          </a:xfrm>
          <a:prstGeom prst="straightConnector1">
            <a:avLst/>
          </a:prstGeom>
          <a:noFill/>
          <a:ln cap="flat" cmpd="sng" w="19050">
            <a:solidFill>
              <a:srgbClr val="E06666"/>
            </a:solidFill>
            <a:prstDash val="solid"/>
            <a:round/>
            <a:headEnd len="sm" w="sm" type="none"/>
            <a:tailEnd len="med" w="med" type="triangle"/>
          </a:ln>
        </p:spPr>
      </p:cxnSp>
      <p:cxnSp>
        <p:nvCxnSpPr>
          <p:cNvPr id="128" name="Google Shape;128;p7"/>
          <p:cNvCxnSpPr/>
          <p:nvPr/>
        </p:nvCxnSpPr>
        <p:spPr>
          <a:xfrm rot="10800000">
            <a:off x="5729325" y="2999875"/>
            <a:ext cx="1746000" cy="337500"/>
          </a:xfrm>
          <a:prstGeom prst="straightConnector1">
            <a:avLst/>
          </a:prstGeom>
          <a:noFill/>
          <a:ln cap="flat" cmpd="sng" w="19050">
            <a:solidFill>
              <a:srgbClr val="E06666"/>
            </a:solidFill>
            <a:prstDash val="solid"/>
            <a:round/>
            <a:headEnd len="sm" w="sm" type="none"/>
            <a:tailEnd len="med" w="med" type="triangle"/>
          </a:ln>
        </p:spPr>
      </p:cxnSp>
      <p:cxnSp>
        <p:nvCxnSpPr>
          <p:cNvPr id="129" name="Google Shape;129;p7"/>
          <p:cNvCxnSpPr/>
          <p:nvPr/>
        </p:nvCxnSpPr>
        <p:spPr>
          <a:xfrm>
            <a:off x="4109025" y="2035225"/>
            <a:ext cx="765000" cy="327300"/>
          </a:xfrm>
          <a:prstGeom prst="straightConnector1">
            <a:avLst/>
          </a:prstGeom>
          <a:noFill/>
          <a:ln cap="flat" cmpd="sng" w="19050">
            <a:solidFill>
              <a:schemeClr val="dk1"/>
            </a:solidFill>
            <a:prstDash val="solid"/>
            <a:round/>
            <a:headEnd len="sm" w="sm" type="none"/>
            <a:tailEnd len="med" w="med" type="triangle"/>
          </a:ln>
        </p:spPr>
      </p:cxnSp>
      <p:cxnSp>
        <p:nvCxnSpPr>
          <p:cNvPr id="130" name="Google Shape;130;p7"/>
          <p:cNvCxnSpPr/>
          <p:nvPr/>
        </p:nvCxnSpPr>
        <p:spPr>
          <a:xfrm>
            <a:off x="1687975" y="3173938"/>
            <a:ext cx="655800" cy="76500"/>
          </a:xfrm>
          <a:prstGeom prst="straightConnector1">
            <a:avLst/>
          </a:prstGeom>
          <a:noFill/>
          <a:ln cap="flat" cmpd="sng" w="19050">
            <a:solidFill>
              <a:schemeClr val="dk1"/>
            </a:solidFill>
            <a:prstDash val="solid"/>
            <a:round/>
            <a:headEnd len="sm" w="sm" type="none"/>
            <a:tailEnd len="med" w="med" type="triangle"/>
          </a:ln>
        </p:spPr>
      </p:cxnSp>
      <p:cxnSp>
        <p:nvCxnSpPr>
          <p:cNvPr id="131" name="Google Shape;131;p7"/>
          <p:cNvCxnSpPr/>
          <p:nvPr/>
        </p:nvCxnSpPr>
        <p:spPr>
          <a:xfrm flipH="1">
            <a:off x="2970775" y="2015925"/>
            <a:ext cx="1128600" cy="540300"/>
          </a:xfrm>
          <a:prstGeom prst="straightConnector1">
            <a:avLst/>
          </a:prstGeom>
          <a:noFill/>
          <a:ln cap="flat" cmpd="sng" w="19050">
            <a:solidFill>
              <a:schemeClr val="dk1"/>
            </a:solidFill>
            <a:prstDash val="solid"/>
            <a:round/>
            <a:headEnd len="sm" w="sm" type="none"/>
            <a:tailEnd len="med" w="med" type="triangle"/>
          </a:ln>
        </p:spPr>
      </p:cxnSp>
      <p:cxnSp>
        <p:nvCxnSpPr>
          <p:cNvPr id="132" name="Google Shape;132;p7"/>
          <p:cNvCxnSpPr/>
          <p:nvPr/>
        </p:nvCxnSpPr>
        <p:spPr>
          <a:xfrm flipH="1" rot="10800000">
            <a:off x="1687975" y="2739425"/>
            <a:ext cx="819900" cy="462900"/>
          </a:xfrm>
          <a:prstGeom prst="straightConnector1">
            <a:avLst/>
          </a:prstGeom>
          <a:noFill/>
          <a:ln cap="flat" cmpd="sng" w="19050">
            <a:solidFill>
              <a:schemeClr val="dk1"/>
            </a:solidFill>
            <a:prstDash val="solid"/>
            <a:round/>
            <a:headEnd len="sm" w="sm" type="none"/>
            <a:tailEnd len="med" w="med" type="triangle"/>
          </a:ln>
        </p:spPr>
      </p:cxnSp>
      <p:cxnSp>
        <p:nvCxnSpPr>
          <p:cNvPr id="133" name="Google Shape;133;p7"/>
          <p:cNvCxnSpPr/>
          <p:nvPr/>
        </p:nvCxnSpPr>
        <p:spPr>
          <a:xfrm flipH="1">
            <a:off x="6289025" y="3366300"/>
            <a:ext cx="1167000" cy="29100"/>
          </a:xfrm>
          <a:prstGeom prst="straightConnector1">
            <a:avLst/>
          </a:prstGeom>
          <a:noFill/>
          <a:ln cap="flat" cmpd="sng" w="19050">
            <a:solidFill>
              <a:schemeClr val="dk1"/>
            </a:solidFill>
            <a:prstDash val="solid"/>
            <a:round/>
            <a:headEnd len="sm" w="sm" type="none"/>
            <a:tailEnd len="med" w="med" type="triangle"/>
          </a:ln>
        </p:spPr>
      </p:cxnSp>
      <p:cxnSp>
        <p:nvCxnSpPr>
          <p:cNvPr id="134" name="Google Shape;134;p7"/>
          <p:cNvCxnSpPr/>
          <p:nvPr/>
        </p:nvCxnSpPr>
        <p:spPr>
          <a:xfrm rot="10800000">
            <a:off x="6829125" y="2951575"/>
            <a:ext cx="646200" cy="38580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Update Velocities</a:t>
            </a:r>
            <a:endParaRPr/>
          </a:p>
        </p:txBody>
      </p:sp>
      <p:pic>
        <p:nvPicPr>
          <p:cNvPr id="140" name="Google Shape;140;p8"/>
          <p:cNvPicPr preferRelativeResize="0"/>
          <p:nvPr/>
        </p:nvPicPr>
        <p:blipFill rotWithShape="1">
          <a:blip r:embed="rId3">
            <a:alphaModFix/>
          </a:blip>
          <a:srcRect b="0" l="0" r="0" t="0"/>
          <a:stretch/>
        </p:blipFill>
        <p:spPr>
          <a:xfrm>
            <a:off x="837225" y="2328925"/>
            <a:ext cx="1699549" cy="1720926"/>
          </a:xfrm>
          <a:prstGeom prst="rect">
            <a:avLst/>
          </a:prstGeom>
          <a:noFill/>
          <a:ln>
            <a:noFill/>
          </a:ln>
        </p:spPr>
      </p:pic>
      <p:pic>
        <p:nvPicPr>
          <p:cNvPr id="141" name="Google Shape;141;p8"/>
          <p:cNvPicPr preferRelativeResize="0"/>
          <p:nvPr/>
        </p:nvPicPr>
        <p:blipFill rotWithShape="1">
          <a:blip r:embed="rId4">
            <a:alphaModFix/>
          </a:blip>
          <a:srcRect b="0" l="0" r="0" t="0"/>
          <a:stretch/>
        </p:blipFill>
        <p:spPr>
          <a:xfrm>
            <a:off x="3551325" y="1467825"/>
            <a:ext cx="1103924" cy="1103924"/>
          </a:xfrm>
          <a:prstGeom prst="rect">
            <a:avLst/>
          </a:prstGeom>
          <a:noFill/>
          <a:ln>
            <a:noFill/>
          </a:ln>
        </p:spPr>
      </p:pic>
      <p:pic>
        <p:nvPicPr>
          <p:cNvPr id="142" name="Google Shape;142;p8"/>
          <p:cNvPicPr preferRelativeResize="0"/>
          <p:nvPr/>
        </p:nvPicPr>
        <p:blipFill rotWithShape="1">
          <a:blip r:embed="rId5">
            <a:alphaModFix/>
          </a:blip>
          <a:srcRect b="44441" l="0" r="44600" t="0"/>
          <a:stretch/>
        </p:blipFill>
        <p:spPr>
          <a:xfrm rot="-9983082">
            <a:off x="7058599" y="3138924"/>
            <a:ext cx="1255875" cy="1259476"/>
          </a:xfrm>
          <a:prstGeom prst="rect">
            <a:avLst/>
          </a:prstGeom>
          <a:noFill/>
          <a:ln>
            <a:noFill/>
          </a:ln>
        </p:spPr>
      </p:pic>
      <p:cxnSp>
        <p:nvCxnSpPr>
          <p:cNvPr id="143" name="Google Shape;143;p8"/>
          <p:cNvCxnSpPr/>
          <p:nvPr/>
        </p:nvCxnSpPr>
        <p:spPr>
          <a:xfrm flipH="1">
            <a:off x="3289075" y="1113975"/>
            <a:ext cx="154500" cy="429300"/>
          </a:xfrm>
          <a:prstGeom prst="straightConnector1">
            <a:avLst/>
          </a:prstGeom>
          <a:noFill/>
          <a:ln cap="flat" cmpd="sng" w="19050">
            <a:solidFill>
              <a:schemeClr val="dk1"/>
            </a:solidFill>
            <a:prstDash val="solid"/>
            <a:round/>
            <a:headEnd len="sm" w="sm" type="none"/>
            <a:tailEnd len="med" w="med" type="triangle"/>
          </a:ln>
        </p:spPr>
      </p:cxnSp>
      <p:cxnSp>
        <p:nvCxnSpPr>
          <p:cNvPr id="144" name="Google Shape;144;p8"/>
          <p:cNvCxnSpPr/>
          <p:nvPr/>
        </p:nvCxnSpPr>
        <p:spPr>
          <a:xfrm flipH="1" rot="10800000">
            <a:off x="1234675" y="2749050"/>
            <a:ext cx="706800" cy="189300"/>
          </a:xfrm>
          <a:prstGeom prst="straightConnector1">
            <a:avLst/>
          </a:prstGeom>
          <a:noFill/>
          <a:ln cap="flat" cmpd="sng" w="19050">
            <a:solidFill>
              <a:schemeClr val="dk1"/>
            </a:solidFill>
            <a:prstDash val="solid"/>
            <a:round/>
            <a:headEnd len="sm" w="sm" type="none"/>
            <a:tailEnd len="med" w="med" type="triangle"/>
          </a:ln>
        </p:spPr>
      </p:cxnSp>
      <p:cxnSp>
        <p:nvCxnSpPr>
          <p:cNvPr id="145" name="Google Shape;145;p8"/>
          <p:cNvCxnSpPr/>
          <p:nvPr/>
        </p:nvCxnSpPr>
        <p:spPr>
          <a:xfrm rot="10800000">
            <a:off x="5729325" y="2999875"/>
            <a:ext cx="1746000" cy="337500"/>
          </a:xfrm>
          <a:prstGeom prst="straightConnector1">
            <a:avLst/>
          </a:prstGeom>
          <a:noFill/>
          <a:ln cap="flat" cmpd="sng" w="19050">
            <a:solidFill>
              <a:schemeClr val="dk1"/>
            </a:solidFill>
            <a:prstDash val="solid"/>
            <a:round/>
            <a:headEnd len="sm" w="sm" type="none"/>
            <a:tailEnd len="med" w="med" type="triangle"/>
          </a:ln>
        </p:spPr>
      </p:cxnSp>
      <p:cxnSp>
        <p:nvCxnSpPr>
          <p:cNvPr id="146" name="Google Shape;146;p8"/>
          <p:cNvCxnSpPr/>
          <p:nvPr/>
        </p:nvCxnSpPr>
        <p:spPr>
          <a:xfrm rot="10800000">
            <a:off x="3443575" y="1089825"/>
            <a:ext cx="655800" cy="926100"/>
          </a:xfrm>
          <a:prstGeom prst="straightConnector1">
            <a:avLst/>
          </a:prstGeom>
          <a:noFill/>
          <a:ln cap="flat" cmpd="sng" w="19050">
            <a:solidFill>
              <a:schemeClr val="dk1"/>
            </a:solidFill>
            <a:prstDash val="solid"/>
            <a:round/>
            <a:headEnd len="sm" w="sm" type="none"/>
            <a:tailEnd len="med" w="med" type="triangle"/>
          </a:ln>
        </p:spPr>
      </p:cxnSp>
      <p:cxnSp>
        <p:nvCxnSpPr>
          <p:cNvPr id="147" name="Google Shape;147;p8"/>
          <p:cNvCxnSpPr/>
          <p:nvPr/>
        </p:nvCxnSpPr>
        <p:spPr>
          <a:xfrm rot="10800000">
            <a:off x="1234675" y="2912825"/>
            <a:ext cx="453300" cy="289500"/>
          </a:xfrm>
          <a:prstGeom prst="straightConnector1">
            <a:avLst/>
          </a:prstGeom>
          <a:noFill/>
          <a:ln cap="flat" cmpd="sng" w="19050">
            <a:solidFill>
              <a:schemeClr val="dk1"/>
            </a:solidFill>
            <a:prstDash val="solid"/>
            <a:round/>
            <a:headEnd len="sm" w="sm" type="none"/>
            <a:tailEnd len="med" w="med" type="triangle"/>
          </a:ln>
        </p:spPr>
      </p:cxnSp>
      <p:cxnSp>
        <p:nvCxnSpPr>
          <p:cNvPr id="148" name="Google Shape;148;p8"/>
          <p:cNvCxnSpPr/>
          <p:nvPr/>
        </p:nvCxnSpPr>
        <p:spPr>
          <a:xfrm rot="10800000">
            <a:off x="4687725" y="1919575"/>
            <a:ext cx="1041600" cy="1080300"/>
          </a:xfrm>
          <a:prstGeom prst="straightConnector1">
            <a:avLst/>
          </a:prstGeom>
          <a:noFill/>
          <a:ln cap="flat" cmpd="sng" w="19050">
            <a:solidFill>
              <a:schemeClr val="dk1"/>
            </a:solidFill>
            <a:prstDash val="solid"/>
            <a:round/>
            <a:headEnd len="sm" w="sm" type="none"/>
            <a:tailEnd len="med" w="med" type="triangle"/>
          </a:ln>
        </p:spPr>
      </p:cxnSp>
      <p:cxnSp>
        <p:nvCxnSpPr>
          <p:cNvPr id="149" name="Google Shape;149;p8"/>
          <p:cNvCxnSpPr/>
          <p:nvPr/>
        </p:nvCxnSpPr>
        <p:spPr>
          <a:xfrm flipH="1" rot="10800000">
            <a:off x="1697625" y="2729575"/>
            <a:ext cx="231600" cy="482400"/>
          </a:xfrm>
          <a:prstGeom prst="straightConnector1">
            <a:avLst/>
          </a:prstGeom>
          <a:noFill/>
          <a:ln cap="flat" cmpd="sng" w="19050">
            <a:solidFill>
              <a:srgbClr val="E06666"/>
            </a:solidFill>
            <a:prstDash val="solid"/>
            <a:round/>
            <a:headEnd len="sm" w="sm" type="none"/>
            <a:tailEnd len="med" w="med" type="triangle"/>
          </a:ln>
        </p:spPr>
      </p:cxnSp>
      <p:cxnSp>
        <p:nvCxnSpPr>
          <p:cNvPr id="150" name="Google Shape;150;p8"/>
          <p:cNvCxnSpPr/>
          <p:nvPr/>
        </p:nvCxnSpPr>
        <p:spPr>
          <a:xfrm rot="10800000">
            <a:off x="3327600" y="1504650"/>
            <a:ext cx="800700" cy="559500"/>
          </a:xfrm>
          <a:prstGeom prst="straightConnector1">
            <a:avLst/>
          </a:prstGeom>
          <a:noFill/>
          <a:ln cap="flat" cmpd="sng" w="19050">
            <a:solidFill>
              <a:srgbClr val="E06666"/>
            </a:solidFill>
            <a:prstDash val="solid"/>
            <a:round/>
            <a:headEnd len="sm" w="sm" type="none"/>
            <a:tailEnd len="med" w="med" type="triangle"/>
          </a:ln>
        </p:spPr>
      </p:cxnSp>
      <p:cxnSp>
        <p:nvCxnSpPr>
          <p:cNvPr id="151" name="Google Shape;151;p8"/>
          <p:cNvCxnSpPr/>
          <p:nvPr/>
        </p:nvCxnSpPr>
        <p:spPr>
          <a:xfrm rot="10800000">
            <a:off x="4716675" y="1958175"/>
            <a:ext cx="2729700" cy="1359900"/>
          </a:xfrm>
          <a:prstGeom prst="straightConnector1">
            <a:avLst/>
          </a:prstGeom>
          <a:noFill/>
          <a:ln cap="flat" cmpd="sng" w="19050">
            <a:solidFill>
              <a:srgbClr val="E06666"/>
            </a:solidFill>
            <a:prstDash val="solid"/>
            <a:round/>
            <a:headEnd len="sm" w="sm"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9"/>
          <p:cNvPicPr preferRelativeResize="0"/>
          <p:nvPr/>
        </p:nvPicPr>
        <p:blipFill rotWithShape="1">
          <a:blip r:embed="rId3">
            <a:alphaModFix/>
          </a:blip>
          <a:srcRect b="0" l="0" r="0" t="0"/>
          <a:stretch/>
        </p:blipFill>
        <p:spPr>
          <a:xfrm>
            <a:off x="837225" y="2328925"/>
            <a:ext cx="1699549" cy="1720926"/>
          </a:xfrm>
          <a:prstGeom prst="rect">
            <a:avLst/>
          </a:prstGeom>
          <a:noFill/>
          <a:ln>
            <a:noFill/>
          </a:ln>
        </p:spPr>
      </p:pic>
      <p:pic>
        <p:nvPicPr>
          <p:cNvPr id="157" name="Google Shape;157;p9"/>
          <p:cNvPicPr preferRelativeResize="0"/>
          <p:nvPr/>
        </p:nvPicPr>
        <p:blipFill rotWithShape="1">
          <a:blip r:embed="rId4">
            <a:alphaModFix/>
          </a:blip>
          <a:srcRect b="0" l="0" r="0" t="0"/>
          <a:stretch/>
        </p:blipFill>
        <p:spPr>
          <a:xfrm>
            <a:off x="3551325" y="1467825"/>
            <a:ext cx="1103924" cy="1103924"/>
          </a:xfrm>
          <a:prstGeom prst="rect">
            <a:avLst/>
          </a:prstGeom>
          <a:noFill/>
          <a:ln>
            <a:noFill/>
          </a:ln>
        </p:spPr>
      </p:pic>
      <p:pic>
        <p:nvPicPr>
          <p:cNvPr id="158" name="Google Shape;158;p9"/>
          <p:cNvPicPr preferRelativeResize="0"/>
          <p:nvPr/>
        </p:nvPicPr>
        <p:blipFill rotWithShape="1">
          <a:blip r:embed="rId5">
            <a:alphaModFix/>
          </a:blip>
          <a:srcRect b="44441" l="0" r="44600" t="0"/>
          <a:stretch/>
        </p:blipFill>
        <p:spPr>
          <a:xfrm rot="-9983082">
            <a:off x="7058599" y="3138924"/>
            <a:ext cx="1255875" cy="1259476"/>
          </a:xfrm>
          <a:prstGeom prst="rect">
            <a:avLst/>
          </a:prstGeom>
          <a:noFill/>
          <a:ln>
            <a:noFill/>
          </a:ln>
        </p:spPr>
      </p:pic>
      <p:sp>
        <p:nvSpPr>
          <p:cNvPr id="159" name="Google Shape;159;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Update Positions</a:t>
            </a:r>
            <a:endParaRPr/>
          </a:p>
        </p:txBody>
      </p:sp>
      <p:cxnSp>
        <p:nvCxnSpPr>
          <p:cNvPr id="160" name="Google Shape;160;p9"/>
          <p:cNvCxnSpPr/>
          <p:nvPr/>
        </p:nvCxnSpPr>
        <p:spPr>
          <a:xfrm flipH="1" rot="10800000">
            <a:off x="1697625" y="2729575"/>
            <a:ext cx="231600" cy="482400"/>
          </a:xfrm>
          <a:prstGeom prst="straightConnector1">
            <a:avLst/>
          </a:prstGeom>
          <a:noFill/>
          <a:ln cap="flat" cmpd="sng" w="19050">
            <a:solidFill>
              <a:schemeClr val="dk1"/>
            </a:solidFill>
            <a:prstDash val="solid"/>
            <a:round/>
            <a:headEnd len="sm" w="sm" type="none"/>
            <a:tailEnd len="med" w="med" type="triangle"/>
          </a:ln>
        </p:spPr>
      </p:cxnSp>
      <p:cxnSp>
        <p:nvCxnSpPr>
          <p:cNvPr id="161" name="Google Shape;161;p9"/>
          <p:cNvCxnSpPr/>
          <p:nvPr/>
        </p:nvCxnSpPr>
        <p:spPr>
          <a:xfrm rot="10800000">
            <a:off x="3327600" y="1504650"/>
            <a:ext cx="800700" cy="559500"/>
          </a:xfrm>
          <a:prstGeom prst="straightConnector1">
            <a:avLst/>
          </a:prstGeom>
          <a:noFill/>
          <a:ln cap="flat" cmpd="sng" w="19050">
            <a:solidFill>
              <a:schemeClr val="dk1"/>
            </a:solidFill>
            <a:prstDash val="solid"/>
            <a:round/>
            <a:headEnd len="sm" w="sm" type="none"/>
            <a:tailEnd len="med" w="med" type="triangle"/>
          </a:ln>
        </p:spPr>
      </p:cxnSp>
      <p:cxnSp>
        <p:nvCxnSpPr>
          <p:cNvPr id="162" name="Google Shape;162;p9"/>
          <p:cNvCxnSpPr/>
          <p:nvPr/>
        </p:nvCxnSpPr>
        <p:spPr>
          <a:xfrm rot="10800000">
            <a:off x="4716675" y="1958175"/>
            <a:ext cx="2729700" cy="135990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10"/>
          <p:cNvPicPr preferRelativeResize="0"/>
          <p:nvPr/>
        </p:nvPicPr>
        <p:blipFill rotWithShape="1">
          <a:blip r:embed="rId3">
            <a:alphaModFix/>
          </a:blip>
          <a:srcRect b="0" l="0" r="0" t="0"/>
          <a:stretch/>
        </p:blipFill>
        <p:spPr>
          <a:xfrm>
            <a:off x="1039675" y="1890650"/>
            <a:ext cx="1699549" cy="1720926"/>
          </a:xfrm>
          <a:prstGeom prst="rect">
            <a:avLst/>
          </a:prstGeom>
          <a:noFill/>
          <a:ln>
            <a:noFill/>
          </a:ln>
        </p:spPr>
      </p:pic>
      <p:pic>
        <p:nvPicPr>
          <p:cNvPr id="168" name="Google Shape;168;p10"/>
          <p:cNvPicPr preferRelativeResize="0"/>
          <p:nvPr/>
        </p:nvPicPr>
        <p:blipFill rotWithShape="1">
          <a:blip r:embed="rId4">
            <a:alphaModFix/>
          </a:blip>
          <a:srcRect b="0" l="0" r="0" t="0"/>
          <a:stretch/>
        </p:blipFill>
        <p:spPr>
          <a:xfrm>
            <a:off x="2777825" y="1017725"/>
            <a:ext cx="1103924" cy="1103924"/>
          </a:xfrm>
          <a:prstGeom prst="rect">
            <a:avLst/>
          </a:prstGeom>
          <a:noFill/>
          <a:ln>
            <a:noFill/>
          </a:ln>
        </p:spPr>
      </p:pic>
      <p:pic>
        <p:nvPicPr>
          <p:cNvPr id="169" name="Google Shape;169;p10"/>
          <p:cNvPicPr preferRelativeResize="0"/>
          <p:nvPr/>
        </p:nvPicPr>
        <p:blipFill rotWithShape="1">
          <a:blip r:embed="rId5">
            <a:alphaModFix/>
          </a:blip>
          <a:srcRect b="44441" l="0" r="44600" t="0"/>
          <a:stretch/>
        </p:blipFill>
        <p:spPr>
          <a:xfrm rot="10365069">
            <a:off x="4174575" y="1460598"/>
            <a:ext cx="1255875" cy="1259476"/>
          </a:xfrm>
          <a:prstGeom prst="rect">
            <a:avLst/>
          </a:prstGeom>
          <a:noFill/>
          <a:ln>
            <a:noFill/>
          </a:ln>
        </p:spPr>
      </p:pic>
      <p:sp>
        <p:nvSpPr>
          <p:cNvPr id="170" name="Google Shape;170;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Update Positions</a:t>
            </a:r>
            <a:endParaRPr/>
          </a:p>
        </p:txBody>
      </p:sp>
      <p:cxnSp>
        <p:nvCxnSpPr>
          <p:cNvPr id="171" name="Google Shape;171;p10"/>
          <p:cNvCxnSpPr/>
          <p:nvPr/>
        </p:nvCxnSpPr>
        <p:spPr>
          <a:xfrm flipH="1" rot="10800000">
            <a:off x="1697625" y="2729575"/>
            <a:ext cx="231600" cy="482400"/>
          </a:xfrm>
          <a:prstGeom prst="straightConnector1">
            <a:avLst/>
          </a:prstGeom>
          <a:noFill/>
          <a:ln cap="flat" cmpd="sng" w="19050">
            <a:solidFill>
              <a:schemeClr val="dk1"/>
            </a:solidFill>
            <a:prstDash val="solid"/>
            <a:round/>
            <a:headEnd len="sm" w="sm" type="none"/>
            <a:tailEnd len="med" w="med" type="triangle"/>
          </a:ln>
        </p:spPr>
      </p:cxnSp>
      <p:cxnSp>
        <p:nvCxnSpPr>
          <p:cNvPr id="172" name="Google Shape;172;p10"/>
          <p:cNvCxnSpPr/>
          <p:nvPr/>
        </p:nvCxnSpPr>
        <p:spPr>
          <a:xfrm rot="10800000">
            <a:off x="3327600" y="1504650"/>
            <a:ext cx="800700" cy="559500"/>
          </a:xfrm>
          <a:prstGeom prst="straightConnector1">
            <a:avLst/>
          </a:prstGeom>
          <a:noFill/>
          <a:ln cap="flat" cmpd="sng" w="19050">
            <a:solidFill>
              <a:schemeClr val="dk1"/>
            </a:solidFill>
            <a:prstDash val="solid"/>
            <a:round/>
            <a:headEnd len="sm" w="sm" type="none"/>
            <a:tailEnd len="med" w="med" type="triangle"/>
          </a:ln>
        </p:spPr>
      </p:cxnSp>
      <p:cxnSp>
        <p:nvCxnSpPr>
          <p:cNvPr id="173" name="Google Shape;173;p10"/>
          <p:cNvCxnSpPr/>
          <p:nvPr/>
        </p:nvCxnSpPr>
        <p:spPr>
          <a:xfrm rot="10800000">
            <a:off x="4716675" y="1958175"/>
            <a:ext cx="2729700" cy="135990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Crisis</a:t>
            </a:r>
            <a:endParaRPr/>
          </a:p>
        </p:txBody>
      </p:sp>
      <p:sp>
        <p:nvSpPr>
          <p:cNvPr id="179" name="Google Shape;179;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zh-TW"/>
              <a:t>In the future, human beings have developed a technology to create artificial gravity. Space travel is as normal as driving a car. One day, Planetary Defense Agency discovered that terrorists intend to use this technology and disguise </a:t>
            </a:r>
            <a:r>
              <a:rPr b="1" lang="zh-TW"/>
              <a:t>gravity-generation devices</a:t>
            </a:r>
            <a:r>
              <a:rPr lang="zh-TW"/>
              <a:t> into seemly harmless civilian spacecrafts. They want to use these gravity devices to induce multiple asteroids to hit the colonized planet with high population. If their plan works out, the planet will face massive destruction.</a:t>
            </a:r>
            <a:endParaRPr/>
          </a:p>
          <a:p>
            <a:pPr indent="0" lvl="0" marL="0" rtl="0" algn="l">
              <a:lnSpc>
                <a:spcPct val="115000"/>
              </a:lnSpc>
              <a:spcBef>
                <a:spcPts val="1600"/>
              </a:spcBef>
              <a:spcAft>
                <a:spcPts val="1600"/>
              </a:spcAft>
              <a:buSzPts val="1800"/>
              <a:buNone/>
            </a:pPr>
            <a:r>
              <a:rPr lang="zh-TW"/>
              <a:t>Your mission is to determine whether the terrorist’s plan will work and how to prevent it from attack.</a:t>
            </a:r>
            <a:endParaRPr/>
          </a:p>
        </p:txBody>
      </p:sp>
      <p:pic>
        <p:nvPicPr>
          <p:cNvPr id="180" name="Google Shape;180;p11"/>
          <p:cNvPicPr preferRelativeResize="0"/>
          <p:nvPr/>
        </p:nvPicPr>
        <p:blipFill rotWithShape="1">
          <a:blip r:embed="rId3">
            <a:alphaModFix/>
          </a:blip>
          <a:srcRect b="0" l="0" r="0" t="0"/>
          <a:stretch/>
        </p:blipFill>
        <p:spPr>
          <a:xfrm>
            <a:off x="4808350" y="3694250"/>
            <a:ext cx="1408708" cy="1345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Crisis</a:t>
            </a:r>
            <a:endParaRPr/>
          </a:p>
        </p:txBody>
      </p:sp>
      <p:sp>
        <p:nvSpPr>
          <p:cNvPr id="186" name="Google Shape;186;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We will assume that the collision happens if the distance between the asteroid and the planet is less than 10</a:t>
            </a:r>
            <a:r>
              <a:rPr baseline="30000" lang="zh-TW"/>
              <a:t>7</a:t>
            </a:r>
            <a:r>
              <a:rPr lang="zh-TW"/>
              <a:t> m.</a:t>
            </a:r>
            <a:endParaRPr/>
          </a:p>
        </p:txBody>
      </p:sp>
      <p:pic>
        <p:nvPicPr>
          <p:cNvPr id="187" name="Google Shape;187;p12"/>
          <p:cNvPicPr preferRelativeResize="0"/>
          <p:nvPr/>
        </p:nvPicPr>
        <p:blipFill rotWithShape="1">
          <a:blip r:embed="rId3">
            <a:alphaModFix/>
          </a:blip>
          <a:srcRect b="0" l="0" r="0" t="0"/>
          <a:stretch/>
        </p:blipFill>
        <p:spPr>
          <a:xfrm>
            <a:off x="4808350" y="3694250"/>
            <a:ext cx="1408708" cy="1345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Gravity Devices</a:t>
            </a:r>
            <a:endParaRPr/>
          </a:p>
        </p:txBody>
      </p:sp>
      <p:sp>
        <p:nvSpPr>
          <p:cNvPr id="193" name="Google Shape;19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Gravity devices (type=device) have a special property: their masses will fluctuate. Refer to the spec for the detailed formula.</a:t>
            </a:r>
            <a:endParaRPr/>
          </a:p>
        </p:txBody>
      </p:sp>
      <p:pic>
        <p:nvPicPr>
          <p:cNvPr id="194" name="Google Shape;194;p13"/>
          <p:cNvPicPr preferRelativeResize="0"/>
          <p:nvPr/>
        </p:nvPicPr>
        <p:blipFill rotWithShape="1">
          <a:blip r:embed="rId3">
            <a:alphaModFix/>
          </a:blip>
          <a:srcRect b="0" l="0" r="0" t="0"/>
          <a:stretch/>
        </p:blipFill>
        <p:spPr>
          <a:xfrm>
            <a:off x="1535888" y="2144138"/>
            <a:ext cx="5686425" cy="2238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Counter-Attack</a:t>
            </a:r>
            <a:endParaRPr/>
          </a:p>
        </p:txBody>
      </p:sp>
      <p:sp>
        <p:nvSpPr>
          <p:cNvPr id="200" name="Google Shape;200;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zh-TW"/>
              <a:t>Planetary Defense Agency has to act quickly because the asteroids are so fast that it’s infeasible to deflect their direction once the asteroids get near to the planet. The best solution they can do is to destroy such gravity devices with space missiles in order to eliminate the gravitational pull.</a:t>
            </a:r>
            <a:endParaRPr/>
          </a:p>
          <a:p>
            <a:pPr indent="0" lvl="0" marL="0" rtl="0" algn="l">
              <a:lnSpc>
                <a:spcPct val="115000"/>
              </a:lnSpc>
              <a:spcBef>
                <a:spcPts val="1600"/>
              </a:spcBef>
              <a:spcAft>
                <a:spcPts val="0"/>
              </a:spcAft>
              <a:buSzPts val="1800"/>
              <a:buNone/>
            </a:pPr>
            <a:r>
              <a:rPr lang="zh-TW"/>
              <a:t>The missile carries some explosives and fuels just enough to reach the targeted gravity device. Launching the missile has a cost positively correlated to the time that the missile will travel.</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pic>
        <p:nvPicPr>
          <p:cNvPr id="201" name="Google Shape;201;p14"/>
          <p:cNvPicPr preferRelativeResize="0"/>
          <p:nvPr/>
        </p:nvPicPr>
        <p:blipFill rotWithShape="1">
          <a:blip r:embed="rId3">
            <a:alphaModFix/>
          </a:blip>
          <a:srcRect b="0" l="0" r="0" t="0"/>
          <a:stretch/>
        </p:blipFill>
        <p:spPr>
          <a:xfrm flipH="1">
            <a:off x="5647525" y="3275875"/>
            <a:ext cx="1760300" cy="1641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Counter-Attack</a:t>
            </a:r>
            <a:endParaRPr/>
          </a:p>
        </p:txBody>
      </p:sp>
      <p:sp>
        <p:nvSpPr>
          <p:cNvPr id="207" name="Google Shape;20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zh-TW"/>
              <a:t>For the ease of simulation, we will assume:</a:t>
            </a:r>
            <a:endParaRPr/>
          </a:p>
          <a:p>
            <a:pPr indent="-342900" lvl="0" marL="457200" rtl="0" algn="l">
              <a:lnSpc>
                <a:spcPct val="115000"/>
              </a:lnSpc>
              <a:spcBef>
                <a:spcPts val="1600"/>
              </a:spcBef>
              <a:spcAft>
                <a:spcPts val="0"/>
              </a:spcAft>
              <a:buSzPts val="1800"/>
              <a:buChar char="●"/>
            </a:pPr>
            <a:r>
              <a:rPr lang="zh-TW"/>
              <a:t>The missile is sent from the planet</a:t>
            </a:r>
            <a:endParaRPr/>
          </a:p>
          <a:p>
            <a:pPr indent="-342900" lvl="0" marL="457200" rtl="0" algn="l">
              <a:lnSpc>
                <a:spcPct val="115000"/>
              </a:lnSpc>
              <a:spcBef>
                <a:spcPts val="0"/>
              </a:spcBef>
              <a:spcAft>
                <a:spcPts val="0"/>
              </a:spcAft>
              <a:buSzPts val="1800"/>
              <a:buChar char="●"/>
            </a:pPr>
            <a:r>
              <a:rPr lang="zh-TW"/>
              <a:t>The missile can guide itself to hit the gravity device with minimal distance, i.e., it travels in a constant velocity </a:t>
            </a:r>
            <a:r>
              <a:rPr lang="zh-TW">
                <a:solidFill>
                  <a:srgbClr val="FF0000"/>
                </a:solidFill>
              </a:rPr>
              <a:t>relative to the planet</a:t>
            </a:r>
            <a:r>
              <a:rPr lang="zh-TW"/>
              <a:t>.</a:t>
            </a:r>
            <a:endParaRPr/>
          </a:p>
          <a:p>
            <a:pPr indent="-342900" lvl="0" marL="457200" rtl="0" algn="l">
              <a:lnSpc>
                <a:spcPct val="115000"/>
              </a:lnSpc>
              <a:spcBef>
                <a:spcPts val="0"/>
              </a:spcBef>
              <a:spcAft>
                <a:spcPts val="0"/>
              </a:spcAft>
              <a:buSzPts val="1800"/>
              <a:buChar char="●"/>
            </a:pPr>
            <a:r>
              <a:rPr lang="zh-TW"/>
              <a:t>The missile has zero mass and is unaffected by gravity</a:t>
            </a:r>
            <a:endParaRPr/>
          </a:p>
          <a:p>
            <a:pPr indent="-342900" lvl="0" marL="457200" rtl="0" algn="l">
              <a:lnSpc>
                <a:spcPct val="115000"/>
              </a:lnSpc>
              <a:spcBef>
                <a:spcPts val="0"/>
              </a:spcBef>
              <a:spcAft>
                <a:spcPts val="0"/>
              </a:spcAft>
              <a:buSzPts val="1800"/>
              <a:buChar char="●"/>
            </a:pPr>
            <a:r>
              <a:rPr lang="zh-TW"/>
              <a:t>A gravity device's mass becomes zero after it is destroyed</a:t>
            </a:r>
            <a:endParaRPr/>
          </a:p>
          <a:p>
            <a:pPr indent="-342900" lvl="0" marL="457200" rtl="0" algn="l">
              <a:lnSpc>
                <a:spcPct val="115000"/>
              </a:lnSpc>
              <a:spcBef>
                <a:spcPts val="0"/>
              </a:spcBef>
              <a:spcAft>
                <a:spcPts val="0"/>
              </a:spcAft>
              <a:buSzPts val="1800"/>
              <a:buChar char="●"/>
            </a:pPr>
            <a:r>
              <a:rPr lang="zh-TW"/>
              <a:t>The missile reaches the device when the travel distance is greater than the distance between the planet and the targeted device</a:t>
            </a:r>
            <a:endParaRPr/>
          </a:p>
        </p:txBody>
      </p:sp>
      <p:pic>
        <p:nvPicPr>
          <p:cNvPr id="208" name="Google Shape;208;p15"/>
          <p:cNvPicPr preferRelativeResize="0"/>
          <p:nvPr/>
        </p:nvPicPr>
        <p:blipFill rotWithShape="1">
          <a:blip r:embed="rId3">
            <a:alphaModFix/>
          </a:blip>
          <a:srcRect b="0" l="0" r="0" t="0"/>
          <a:stretch/>
        </p:blipFill>
        <p:spPr>
          <a:xfrm flipH="1">
            <a:off x="5647525" y="3275875"/>
            <a:ext cx="1760300" cy="1641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The Problem</a:t>
            </a:r>
            <a:endParaRPr/>
          </a:p>
        </p:txBody>
      </p:sp>
      <p:sp>
        <p:nvSpPr>
          <p:cNvPr id="214" name="Google Shape;21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zh-TW"/>
              <a:t>Run the simulation for a given amount of time steps (defined by the spec) and output the answers to the following questions:</a:t>
            </a:r>
            <a:endParaRPr/>
          </a:p>
          <a:p>
            <a:pPr indent="-342900" lvl="0" marL="457200" rtl="0" algn="l">
              <a:lnSpc>
                <a:spcPct val="115000"/>
              </a:lnSpc>
              <a:spcBef>
                <a:spcPts val="1600"/>
              </a:spcBef>
              <a:spcAft>
                <a:spcPts val="0"/>
              </a:spcAft>
              <a:buSzPts val="1800"/>
              <a:buAutoNum type="arabicPeriod"/>
            </a:pPr>
            <a:r>
              <a:rPr lang="zh-TW"/>
              <a:t>If there were no gravity devices, what is the minimal distance between the planet and the asteroid?</a:t>
            </a:r>
            <a:endParaRPr/>
          </a:p>
          <a:p>
            <a:pPr indent="-342900" lvl="0" marL="457200" rtl="0" algn="l">
              <a:lnSpc>
                <a:spcPct val="115000"/>
              </a:lnSpc>
              <a:spcBef>
                <a:spcPts val="0"/>
              </a:spcBef>
              <a:spcAft>
                <a:spcPts val="0"/>
              </a:spcAft>
              <a:buSzPts val="1800"/>
              <a:buAutoNum type="arabicPeriod"/>
            </a:pPr>
            <a:r>
              <a:rPr lang="zh-TW"/>
              <a:t>At what time step will the asteroid hit the planet?</a:t>
            </a:r>
            <a:endParaRPr/>
          </a:p>
          <a:p>
            <a:pPr indent="-342900" lvl="0" marL="457200" rtl="0" algn="l">
              <a:lnSpc>
                <a:spcPct val="115000"/>
              </a:lnSpc>
              <a:spcBef>
                <a:spcPts val="0"/>
              </a:spcBef>
              <a:spcAft>
                <a:spcPts val="0"/>
              </a:spcAft>
              <a:buSzPts val="1800"/>
              <a:buAutoNum type="arabicPeriod"/>
            </a:pPr>
            <a:r>
              <a:rPr lang="zh-TW"/>
              <a:t>Can the collision be prevented if a missile is launched to destroy one of the gravity devices? If so, determine the gravity device to destroy which saves the planet and with the lowest cost.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a:t>
            </a:r>
            <a:endParaRPr/>
          </a:p>
        </p:txBody>
      </p:sp>
      <p:sp>
        <p:nvSpPr>
          <p:cNvPr id="220" name="Google Shape;220;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N planet-id asteroid-id</a:t>
            </a:r>
            <a:br>
              <a:rPr lang="zh-TW"/>
            </a:br>
            <a:r>
              <a:rPr lang="zh-TW"/>
              <a:t>qx0 qy0 qz0 vx0 vy0 vz0 m0 type0</a:t>
            </a:r>
            <a:br>
              <a:rPr lang="zh-TW"/>
            </a:br>
            <a:r>
              <a:rPr lang="zh-TW"/>
              <a:t>qx1 qy1 qz1 vx1 vy1 vz1 m1 type1</a:t>
            </a:r>
            <a:br>
              <a:rPr lang="zh-TW"/>
            </a:br>
            <a:r>
              <a:rPr lang="zh-TW"/>
              <a:t>qx2 qy2 qz2 vx2 vy2 vz2 m2 type2</a:t>
            </a:r>
            <a:br>
              <a:rPr lang="zh-TW"/>
            </a:br>
            <a:r>
              <a:rPr lang="zh-TW"/>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 Number of Celestial Bodies</a:t>
            </a:r>
            <a:endParaRPr/>
          </a:p>
        </p:txBody>
      </p:sp>
      <p:sp>
        <p:nvSpPr>
          <p:cNvPr id="226" name="Google Shape;226;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u="sng"/>
              <a:t>N</a:t>
            </a:r>
            <a:r>
              <a:rPr lang="zh-TW"/>
              <a:t> planet-id asteroid-id</a:t>
            </a:r>
            <a:br>
              <a:rPr lang="zh-TW"/>
            </a:br>
            <a:r>
              <a:rPr lang="zh-TW"/>
              <a:t>qx0 qy0 qz0 vx0 vy0 vz0 m0 type0</a:t>
            </a:r>
            <a:br>
              <a:rPr lang="zh-TW"/>
            </a:br>
            <a:r>
              <a:rPr lang="zh-TW"/>
              <a:t>qx1 qy1 qz1 vx1 vy1 vz1 m1 type1</a:t>
            </a:r>
            <a:br>
              <a:rPr lang="zh-TW"/>
            </a:br>
            <a:r>
              <a:rPr lang="zh-TW"/>
              <a:t>qx2 qy2 qz2 vx2 vy2 vz2 m2 type2</a:t>
            </a:r>
            <a:br>
              <a:rPr lang="zh-TW"/>
            </a:br>
            <a:r>
              <a:rPr lang="zh-TW"/>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 The ID of the Planet Under Concern</a:t>
            </a:r>
            <a:endParaRPr/>
          </a:p>
        </p:txBody>
      </p:sp>
      <p:sp>
        <p:nvSpPr>
          <p:cNvPr id="232" name="Google Shape;232;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N </a:t>
            </a:r>
            <a:r>
              <a:rPr lang="zh-TW" u="sng"/>
              <a:t>planet-id</a:t>
            </a:r>
            <a:r>
              <a:rPr lang="zh-TW"/>
              <a:t> asteroid-id</a:t>
            </a:r>
            <a:br>
              <a:rPr lang="zh-TW"/>
            </a:br>
            <a:r>
              <a:rPr lang="zh-TW"/>
              <a:t>qx0 qy0 qz0 vx0 vy0 vz0 m0 type0</a:t>
            </a:r>
            <a:br>
              <a:rPr lang="zh-TW"/>
            </a:br>
            <a:r>
              <a:rPr lang="zh-TW"/>
              <a:t>qx1 qy1 qz1 vx1 vy1 vz1 m1 type1</a:t>
            </a:r>
            <a:br>
              <a:rPr lang="zh-TW"/>
            </a:br>
            <a:r>
              <a:rPr lang="zh-TW"/>
              <a:t>qx2 qy2 qz2 vx2 vy2 vz2 m2 type2</a:t>
            </a:r>
            <a:br>
              <a:rPr lang="zh-TW"/>
            </a:br>
            <a:r>
              <a:rPr lang="zh-TW"/>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 The ID of the Asteroid Under Concern</a:t>
            </a:r>
            <a:endParaRPr/>
          </a:p>
        </p:txBody>
      </p:sp>
      <p:sp>
        <p:nvSpPr>
          <p:cNvPr id="238" name="Google Shape;238;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N planet-id </a:t>
            </a:r>
            <a:r>
              <a:rPr lang="zh-TW" u="sng"/>
              <a:t>asteroid-id</a:t>
            </a:r>
            <a:br>
              <a:rPr lang="zh-TW"/>
            </a:br>
            <a:r>
              <a:rPr lang="zh-TW"/>
              <a:t>qx0 qy0 qz0 vx0 vy0 vz0 m0 type0</a:t>
            </a:r>
            <a:br>
              <a:rPr lang="zh-TW"/>
            </a:br>
            <a:r>
              <a:rPr lang="zh-TW"/>
              <a:t>qx1 qy1 qz1 vx1 vy1 vz1 m1 type1</a:t>
            </a:r>
            <a:br>
              <a:rPr lang="zh-TW"/>
            </a:br>
            <a:r>
              <a:rPr lang="zh-TW"/>
              <a:t>qx2 qy2 qz2 vx2 vy2 vz2 m2 type2</a:t>
            </a:r>
            <a:br>
              <a:rPr lang="zh-TW"/>
            </a:br>
            <a:r>
              <a:rPr lang="zh-TW"/>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 Positions of Bodies at step=0</a:t>
            </a:r>
            <a:endParaRPr/>
          </a:p>
        </p:txBody>
      </p:sp>
      <p:sp>
        <p:nvSpPr>
          <p:cNvPr id="244" name="Google Shape;244;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N planet-id asteroid-id</a:t>
            </a:r>
            <a:br>
              <a:rPr lang="zh-TW"/>
            </a:br>
            <a:r>
              <a:rPr lang="zh-TW" u="sng"/>
              <a:t>qx0 qy0 qz0</a:t>
            </a:r>
            <a:r>
              <a:rPr lang="zh-TW"/>
              <a:t> vx0 vy0 vz0 m0 type0</a:t>
            </a:r>
            <a:br>
              <a:rPr lang="zh-TW"/>
            </a:br>
            <a:r>
              <a:rPr lang="zh-TW" u="sng"/>
              <a:t>qx1 qy1 qz1</a:t>
            </a:r>
            <a:r>
              <a:rPr lang="zh-TW"/>
              <a:t> vx1 vy1 vz1 m1 type1</a:t>
            </a:r>
            <a:br>
              <a:rPr lang="zh-TW"/>
            </a:br>
            <a:r>
              <a:rPr lang="zh-TW" u="sng"/>
              <a:t>qx2 qy2 qz2</a:t>
            </a:r>
            <a:r>
              <a:rPr lang="zh-TW"/>
              <a:t> vx2 vy2 vz2 m2 type2</a:t>
            </a:r>
            <a:br>
              <a:rPr lang="zh-TW"/>
            </a:br>
            <a:r>
              <a:rPr lang="zh-TW"/>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 Velocities of Bodies at step=0 </a:t>
            </a:r>
            <a:endParaRPr/>
          </a:p>
        </p:txBody>
      </p:sp>
      <p:sp>
        <p:nvSpPr>
          <p:cNvPr id="250" name="Google Shape;250;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N planet-id asteroid-id</a:t>
            </a:r>
            <a:br>
              <a:rPr lang="zh-TW"/>
            </a:br>
            <a:r>
              <a:rPr lang="zh-TW"/>
              <a:t>qx0 qy0 qz0 </a:t>
            </a:r>
            <a:r>
              <a:rPr lang="zh-TW" u="sng"/>
              <a:t>vx0 vy0 vz0</a:t>
            </a:r>
            <a:r>
              <a:rPr lang="zh-TW"/>
              <a:t> m0 type0</a:t>
            </a:r>
            <a:br>
              <a:rPr lang="zh-TW"/>
            </a:br>
            <a:r>
              <a:rPr lang="zh-TW"/>
              <a:t>qx1 qy1 qz1 </a:t>
            </a:r>
            <a:r>
              <a:rPr lang="zh-TW" u="sng"/>
              <a:t>vx1 vy1 vz1</a:t>
            </a:r>
            <a:r>
              <a:rPr lang="zh-TW"/>
              <a:t> m1 type1</a:t>
            </a:r>
            <a:br>
              <a:rPr lang="zh-TW"/>
            </a:br>
            <a:r>
              <a:rPr lang="zh-TW"/>
              <a:t>qx2 qy2 qz2 </a:t>
            </a:r>
            <a:r>
              <a:rPr lang="zh-TW" u="sng"/>
              <a:t>vx2 vy2 vz2</a:t>
            </a:r>
            <a:r>
              <a:rPr lang="zh-TW"/>
              <a:t> m2 type2</a:t>
            </a:r>
            <a:br>
              <a:rPr lang="zh-TW"/>
            </a:br>
            <a:r>
              <a:rPr lang="zh-TW"/>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 </a:t>
            </a:r>
            <a:r>
              <a:rPr lang="zh-TW" sz="2400"/>
              <a:t>Mass of Bodies at step=0 (fluctuates if type=device)</a:t>
            </a:r>
            <a:endParaRPr sz="2400"/>
          </a:p>
        </p:txBody>
      </p:sp>
      <p:sp>
        <p:nvSpPr>
          <p:cNvPr id="256" name="Google Shape;256;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N planet-id asteroid-id</a:t>
            </a:r>
            <a:br>
              <a:rPr lang="zh-TW"/>
            </a:br>
            <a:r>
              <a:rPr lang="zh-TW"/>
              <a:t>qx0 qy0 qz0 vx0 vy0 vz0 </a:t>
            </a:r>
            <a:r>
              <a:rPr lang="zh-TW" u="sng"/>
              <a:t>m0</a:t>
            </a:r>
            <a:r>
              <a:rPr lang="zh-TW"/>
              <a:t> type0</a:t>
            </a:r>
            <a:br>
              <a:rPr lang="zh-TW"/>
            </a:br>
            <a:r>
              <a:rPr lang="zh-TW"/>
              <a:t>qx1 qy1 qz1 vx1 vy1 vz1 </a:t>
            </a:r>
            <a:r>
              <a:rPr lang="zh-TW" u="sng"/>
              <a:t>m1</a:t>
            </a:r>
            <a:r>
              <a:rPr lang="zh-TW"/>
              <a:t> type1</a:t>
            </a:r>
            <a:br>
              <a:rPr lang="zh-TW"/>
            </a:br>
            <a:r>
              <a:rPr lang="zh-TW"/>
              <a:t>qx2 qy2 qz2 vx2 vy2 vz2 </a:t>
            </a:r>
            <a:r>
              <a:rPr lang="zh-TW" u="sng"/>
              <a:t>m2</a:t>
            </a:r>
            <a:r>
              <a:rPr lang="zh-TW"/>
              <a:t> type2</a:t>
            </a:r>
            <a:br>
              <a:rPr lang="zh-TW"/>
            </a:br>
            <a:r>
              <a:rPr lang="zh-TW"/>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Input: Type of Body</a:t>
            </a:r>
            <a:endParaRPr/>
          </a:p>
        </p:txBody>
      </p:sp>
      <p:sp>
        <p:nvSpPr>
          <p:cNvPr id="262" name="Google Shape;262;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zh-TW"/>
              <a:t>N planet-id asteroid-id</a:t>
            </a:r>
            <a:br>
              <a:rPr lang="zh-TW"/>
            </a:br>
            <a:r>
              <a:rPr lang="zh-TW"/>
              <a:t>qx0 qy0 qz0 vx0 vy0 vz0 m0 </a:t>
            </a:r>
            <a:r>
              <a:rPr lang="zh-TW" u="sng"/>
              <a:t>type0</a:t>
            </a:r>
            <a:br>
              <a:rPr lang="zh-TW"/>
            </a:br>
            <a:r>
              <a:rPr lang="zh-TW"/>
              <a:t>qx1 qy1 qz1 vx1 vy1 vz1 m1 </a:t>
            </a:r>
            <a:r>
              <a:rPr lang="zh-TW" u="sng"/>
              <a:t>type1</a:t>
            </a:r>
            <a:br>
              <a:rPr lang="zh-TW"/>
            </a:br>
            <a:r>
              <a:rPr lang="zh-TW"/>
              <a:t>qx2 qy2 qz2 vx2 vy2 vz2 m2 </a:t>
            </a:r>
            <a:r>
              <a:rPr lang="zh-TW" u="sng"/>
              <a:t>type2</a:t>
            </a:r>
            <a:br>
              <a:rPr lang="zh-TW"/>
            </a:br>
            <a:r>
              <a:rPr lang="zh-TW"/>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Reminder</a:t>
            </a:r>
            <a:endParaRPr/>
          </a:p>
        </p:txBody>
      </p:sp>
      <p:sp>
        <p:nvSpPr>
          <p:cNvPr id="268" name="Google Shape;268;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zh-TW"/>
              <a:t>The missile is launched right from the start, meaning that at step = 1, the missile has already traveled a distance o f  (1 * Δt * missile_speed).</a:t>
            </a:r>
            <a:endParaRPr/>
          </a:p>
          <a:p>
            <a:pPr indent="-342900" lvl="0" marL="457200" rtl="0" algn="l">
              <a:lnSpc>
                <a:spcPct val="150000"/>
              </a:lnSpc>
              <a:spcBef>
                <a:spcPts val="0"/>
              </a:spcBef>
              <a:spcAft>
                <a:spcPts val="0"/>
              </a:spcAft>
              <a:buSzPts val="1800"/>
              <a:buChar char="●"/>
            </a:pPr>
            <a:r>
              <a:rPr lang="zh-TW"/>
              <a:t>The distance between the planet and the missile is calculated using the planet's position at the moment of launch. In other words, it can be directly calculated as (step * Δt * missile_speed).</a:t>
            </a:r>
            <a:endParaRPr/>
          </a:p>
          <a:p>
            <a:pPr indent="-342900" lvl="0" marL="457200" rtl="0" algn="l">
              <a:lnSpc>
                <a:spcPct val="150000"/>
              </a:lnSpc>
              <a:spcBef>
                <a:spcPts val="1000"/>
              </a:spcBef>
              <a:spcAft>
                <a:spcPts val="0"/>
              </a:spcAft>
              <a:buSzPts val="1800"/>
              <a:buChar char="●"/>
            </a:pPr>
            <a:r>
              <a:rPr lang="zh-TW"/>
              <a:t>The distance between the planet and the device needs to be calculated based on their latest positions at the current step. Assuming this distance is (dist_planet_device) , a hit is considered if (step * Δt * missile_speed) &gt; (dist_planet_device).</a:t>
            </a:r>
            <a:endParaRPr sz="1050">
              <a:solidFill>
                <a:srgbClr val="333333"/>
              </a:solidFill>
              <a:highlight>
                <a:srgbClr val="F8F8F8"/>
              </a:highlight>
              <a:latin typeface="Arial"/>
              <a:ea typeface="Arial"/>
              <a:cs typeface="Arial"/>
              <a:sym typeface="Arial"/>
            </a:endParaRPr>
          </a:p>
          <a:p>
            <a:pPr indent="0" lvl="0" marL="0" rtl="0" algn="l">
              <a:lnSpc>
                <a:spcPct val="150000"/>
              </a:lnSpc>
              <a:spcBef>
                <a:spcPts val="1600"/>
              </a:spcBef>
              <a:spcAft>
                <a:spcPts val="1600"/>
              </a:spcAft>
              <a:buSzPts val="1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g31a076106ab_2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Reminder</a:t>
            </a:r>
            <a:endParaRPr/>
          </a:p>
        </p:txBody>
      </p:sp>
      <p:sp>
        <p:nvSpPr>
          <p:cNvPr id="274" name="Google Shape;274;g31a076106ab_2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zh-TW"/>
              <a:t>missle 是一開始就發射，也就是在 step=1 時 missile 已經走了 1 * Δt * missile_speed 這麼遠的距離</a:t>
            </a:r>
            <a:endParaRPr/>
          </a:p>
          <a:p>
            <a:pPr indent="-342900" lvl="0" marL="457200" rtl="0" algn="l">
              <a:lnSpc>
                <a:spcPct val="150000"/>
              </a:lnSpc>
              <a:spcBef>
                <a:spcPts val="1000"/>
              </a:spcBef>
              <a:spcAft>
                <a:spcPts val="0"/>
              </a:spcAft>
              <a:buSzPts val="1800"/>
              <a:buChar char="●"/>
            </a:pPr>
            <a:r>
              <a:rPr lang="zh-TW"/>
              <a:t>planet 跟 missile 的距離是用發射時當下的星球位置來算，也就是直接算 step * Δt * missile_speed 即可</a:t>
            </a:r>
            <a:endParaRPr/>
          </a:p>
          <a:p>
            <a:pPr indent="-342900" lvl="0" marL="457200" rtl="0" algn="l">
              <a:lnSpc>
                <a:spcPct val="150000"/>
              </a:lnSpc>
              <a:spcBef>
                <a:spcPts val="1000"/>
              </a:spcBef>
              <a:spcAft>
                <a:spcPts val="0"/>
              </a:spcAft>
              <a:buSzPts val="1800"/>
              <a:buChar char="●"/>
            </a:pPr>
            <a:r>
              <a:rPr lang="zh-TW"/>
              <a:t>星球跟裝置的距離則是要看當前兩者最新的位置來做計算，假設這個距離是 dist_planet_device，則 step * Δt * missile_speed &gt; dist_planet_device 就算 hit。</a:t>
            </a:r>
            <a:endParaRPr sz="1050">
              <a:solidFill>
                <a:srgbClr val="333333"/>
              </a:solidFill>
              <a:highlight>
                <a:srgbClr val="F8F8F8"/>
              </a:highlight>
              <a:latin typeface="Arial"/>
              <a:ea typeface="Arial"/>
              <a:cs typeface="Arial"/>
              <a:sym typeface="Arial"/>
            </a:endParaRPr>
          </a:p>
          <a:p>
            <a:pPr indent="0" lvl="0" marL="0" rtl="0" algn="l">
              <a:lnSpc>
                <a:spcPct val="150000"/>
              </a:lnSpc>
              <a:spcBef>
                <a:spcPts val="1600"/>
              </a:spcBef>
              <a:spcAft>
                <a:spcPts val="1600"/>
              </a:spcAft>
              <a:buSzPts val="1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Grading</a:t>
            </a:r>
            <a:endParaRPr/>
          </a:p>
        </p:txBody>
      </p:sp>
      <p:sp>
        <p:nvSpPr>
          <p:cNvPr id="280" name="Google Shape;280;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AutoNum type="arabicPeriod"/>
            </a:pPr>
            <a:r>
              <a:rPr lang="zh-TW"/>
              <a:t>Correctness (50%)</a:t>
            </a:r>
            <a:endParaRPr/>
          </a:p>
          <a:p>
            <a:pPr indent="-342900" lvl="0" marL="914400" rtl="0" algn="l">
              <a:lnSpc>
                <a:spcPct val="150000"/>
              </a:lnSpc>
              <a:spcBef>
                <a:spcPts val="0"/>
              </a:spcBef>
              <a:spcAft>
                <a:spcPts val="0"/>
              </a:spcAft>
              <a:buSzPts val="1800"/>
              <a:buChar char="●"/>
            </a:pPr>
            <a:r>
              <a:rPr lang="zh-TW"/>
              <a:t>Please make sure to use GPU and verify your answer.</a:t>
            </a:r>
            <a:endParaRPr sz="1400">
              <a:solidFill>
                <a:schemeClr val="dk1"/>
              </a:solidFill>
              <a:latin typeface="Proxima Nova"/>
              <a:ea typeface="Proxima Nova"/>
              <a:cs typeface="Proxima Nova"/>
              <a:sym typeface="Proxima Nova"/>
            </a:endParaRPr>
          </a:p>
          <a:p>
            <a:pPr indent="-342900" lvl="0" marL="457200" rtl="0" algn="l">
              <a:lnSpc>
                <a:spcPct val="150000"/>
              </a:lnSpc>
              <a:spcBef>
                <a:spcPts val="0"/>
              </a:spcBef>
              <a:spcAft>
                <a:spcPts val="0"/>
              </a:spcAft>
              <a:buSzPts val="1800"/>
              <a:buAutoNum type="arabicPeriod" startAt="2"/>
            </a:pPr>
            <a:r>
              <a:rPr lang="zh-TW"/>
              <a:t>Performance (20%) </a:t>
            </a:r>
            <a:endParaRPr/>
          </a:p>
          <a:p>
            <a:pPr indent="-342900" lvl="0" marL="914400" rtl="0" algn="l">
              <a:lnSpc>
                <a:spcPct val="150000"/>
              </a:lnSpc>
              <a:spcBef>
                <a:spcPts val="0"/>
              </a:spcBef>
              <a:spcAft>
                <a:spcPts val="0"/>
              </a:spcAft>
              <a:buSzPts val="1800"/>
              <a:buChar char="●"/>
            </a:pPr>
            <a:r>
              <a:rPr lang="zh-TW"/>
              <a:t>Based on the total time you solve all the test cases.</a:t>
            </a:r>
            <a:endParaRPr/>
          </a:p>
          <a:p>
            <a:pPr indent="-342900" lvl="0" marL="457200" rtl="0" algn="l">
              <a:lnSpc>
                <a:spcPct val="150000"/>
              </a:lnSpc>
              <a:spcBef>
                <a:spcPts val="0"/>
              </a:spcBef>
              <a:spcAft>
                <a:spcPts val="0"/>
              </a:spcAft>
              <a:buSzPts val="1800"/>
              <a:buAutoNum type="arabicPeriod" startAt="3"/>
            </a:pPr>
            <a:r>
              <a:rPr lang="zh-TW"/>
              <a:t>Report (30%) </a:t>
            </a:r>
            <a:endParaRPr/>
          </a:p>
          <a:p>
            <a:pPr indent="-342900" lvl="0" marL="914400" rtl="0" algn="l">
              <a:lnSpc>
                <a:spcPct val="150000"/>
              </a:lnSpc>
              <a:spcBef>
                <a:spcPts val="0"/>
              </a:spcBef>
              <a:spcAft>
                <a:spcPts val="0"/>
              </a:spcAft>
              <a:buSzPts val="1800"/>
              <a:buChar char="●"/>
            </a:pPr>
            <a:r>
              <a:rPr lang="zh-TW"/>
              <a:t>Please describe, in detail, how you parallelize your codes and answer the questions in the spec.</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Grading - Report</a:t>
            </a:r>
            <a:endParaRPr/>
          </a:p>
        </p:txBody>
      </p:sp>
      <p:sp>
        <p:nvSpPr>
          <p:cNvPr id="286" name="Google Shape;28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AutoNum type="arabicPeriod"/>
            </a:pPr>
            <a:r>
              <a:rPr lang="zh-TW"/>
              <a:t>Implementation:</a:t>
            </a:r>
            <a:endParaRPr/>
          </a:p>
          <a:p>
            <a:pPr indent="-342900" lvl="1" marL="914400" rtl="0" algn="l">
              <a:lnSpc>
                <a:spcPct val="150000"/>
              </a:lnSpc>
              <a:spcBef>
                <a:spcPts val="0"/>
              </a:spcBef>
              <a:spcAft>
                <a:spcPts val="0"/>
              </a:spcAft>
              <a:buSzPts val="1800"/>
              <a:buChar char="○"/>
            </a:pPr>
            <a:r>
              <a:rPr lang="zh-TW"/>
              <a:t>What is your parallelism strategy?</a:t>
            </a:r>
            <a:endParaRPr/>
          </a:p>
          <a:p>
            <a:pPr indent="-342900" lvl="1" marL="914400" rtl="0" algn="l">
              <a:lnSpc>
                <a:spcPct val="150000"/>
              </a:lnSpc>
              <a:spcBef>
                <a:spcPts val="0"/>
              </a:spcBef>
              <a:spcAft>
                <a:spcPts val="0"/>
              </a:spcAft>
              <a:buSzPts val="1800"/>
              <a:buChar char="○"/>
            </a:pPr>
            <a:r>
              <a:rPr lang="zh-TW"/>
              <a:t>Optimization techniques?</a:t>
            </a:r>
            <a:endParaRPr/>
          </a:p>
          <a:p>
            <a:pPr indent="-342900" lvl="1" marL="914400" rtl="0" algn="l">
              <a:lnSpc>
                <a:spcPct val="150000"/>
              </a:lnSpc>
              <a:spcBef>
                <a:spcPts val="0"/>
              </a:spcBef>
              <a:spcAft>
                <a:spcPts val="0"/>
              </a:spcAft>
              <a:buSzPts val="1800"/>
              <a:buChar char="○"/>
            </a:pPr>
            <a:r>
              <a:rPr lang="zh-TW"/>
              <a:t>How do you manage the 2-GPU resources?</a:t>
            </a:r>
            <a:endParaRPr/>
          </a:p>
          <a:p>
            <a:pPr indent="-342900" lvl="0" marL="457200" rtl="0" algn="l">
              <a:lnSpc>
                <a:spcPct val="150000"/>
              </a:lnSpc>
              <a:spcBef>
                <a:spcPts val="0"/>
              </a:spcBef>
              <a:spcAft>
                <a:spcPts val="0"/>
              </a:spcAft>
              <a:buSzPts val="1800"/>
              <a:buAutoNum type="arabicPeriod"/>
            </a:pPr>
            <a:r>
              <a:rPr lang="zh-TW"/>
              <a:t>If there are 4 GPUs instead of 2, what would you do to maximize the performance?</a:t>
            </a:r>
            <a:endParaRPr/>
          </a:p>
          <a:p>
            <a:pPr indent="-342900" lvl="0" marL="457200" rtl="0" algn="l">
              <a:lnSpc>
                <a:spcPct val="150000"/>
              </a:lnSpc>
              <a:spcBef>
                <a:spcPts val="0"/>
              </a:spcBef>
              <a:spcAft>
                <a:spcPts val="0"/>
              </a:spcAft>
              <a:buSzPts val="1800"/>
              <a:buAutoNum type="arabicPeriod"/>
            </a:pPr>
            <a:r>
              <a:rPr lang="zh-TW"/>
              <a:t>If there are 5 gravity devices, is it necessary to simulate 5 n-body simulations independently for this problem?</a:t>
            </a:r>
            <a:endParaRPr/>
          </a:p>
          <a:p>
            <a:pPr indent="-342900" lvl="0" marL="457200" rtl="0" algn="l">
              <a:lnSpc>
                <a:spcPct val="150000"/>
              </a:lnSpc>
              <a:spcBef>
                <a:spcPts val="0"/>
              </a:spcBef>
              <a:spcAft>
                <a:spcPts val="0"/>
              </a:spcAft>
              <a:buSzPts val="1800"/>
              <a:buAutoNum type="arabicPeriod"/>
            </a:pPr>
            <a:r>
              <a:rPr lang="zh-TW"/>
              <a:t>(Optional) Any suggestions or feedback for the homework are welcome.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Submission</a:t>
            </a:r>
            <a:endParaRPr/>
          </a:p>
        </p:txBody>
      </p:sp>
      <p:sp>
        <p:nvSpPr>
          <p:cNvPr id="292" name="Google Shape;29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zh-TW"/>
              <a:t>Please zip the following files to a single archived file named </a:t>
            </a:r>
            <a:r>
              <a:rPr lang="zh-TW">
                <a:solidFill>
                  <a:srgbClr val="FF0000"/>
                </a:solidFill>
              </a:rPr>
              <a:t>&lt;StudentID&gt;.tar </a:t>
            </a:r>
            <a:r>
              <a:rPr lang="zh-TW"/>
              <a:t>and submit to NTU cool:</a:t>
            </a:r>
            <a:endParaRPr/>
          </a:p>
          <a:p>
            <a:pPr indent="-342900" lvl="1" marL="914400" rtl="0" algn="l">
              <a:lnSpc>
                <a:spcPct val="150000"/>
              </a:lnSpc>
              <a:spcBef>
                <a:spcPts val="0"/>
              </a:spcBef>
              <a:spcAft>
                <a:spcPts val="0"/>
              </a:spcAft>
              <a:buSzPts val="1800"/>
              <a:buChar char="○"/>
            </a:pPr>
            <a:r>
              <a:rPr lang="zh-TW"/>
              <a:t>hw5.cpp</a:t>
            </a:r>
            <a:endParaRPr/>
          </a:p>
          <a:p>
            <a:pPr indent="-342900" lvl="1" marL="914400" rtl="0" algn="l">
              <a:lnSpc>
                <a:spcPct val="150000"/>
              </a:lnSpc>
              <a:spcBef>
                <a:spcPts val="0"/>
              </a:spcBef>
              <a:spcAft>
                <a:spcPts val="0"/>
              </a:spcAft>
              <a:buSzPts val="1800"/>
              <a:buChar char="○"/>
            </a:pPr>
            <a:r>
              <a:rPr lang="zh-TW"/>
              <a:t>report.pdf</a:t>
            </a:r>
            <a:endParaRPr/>
          </a:p>
          <a:p>
            <a:pPr indent="-342900" lvl="1" marL="914400" rtl="0" algn="l">
              <a:lnSpc>
                <a:spcPct val="150000"/>
              </a:lnSpc>
              <a:spcBef>
                <a:spcPts val="0"/>
              </a:spcBef>
              <a:spcAft>
                <a:spcPts val="0"/>
              </a:spcAft>
              <a:buSzPts val="1800"/>
              <a:buChar char="○"/>
            </a:pPr>
            <a:r>
              <a:rPr lang="zh-TW"/>
              <a:t>Makefile (optional)</a:t>
            </a:r>
            <a:endParaRPr/>
          </a:p>
          <a:p>
            <a:pPr indent="-342900" lvl="0" marL="457200" rtl="0" algn="l">
              <a:lnSpc>
                <a:spcPct val="150000"/>
              </a:lnSpc>
              <a:spcBef>
                <a:spcPts val="0"/>
              </a:spcBef>
              <a:spcAft>
                <a:spcPts val="0"/>
              </a:spcAft>
              <a:buSzPts val="1800"/>
              <a:buChar char="●"/>
            </a:pPr>
            <a:r>
              <a:rPr lang="zh-TW"/>
              <a:t>Please follow the naming listed above carefully. Failing to adhere to the names above will result to points deduction.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zh-TW"/>
              <a:t>Deadline</a:t>
            </a:r>
            <a:endParaRPr/>
          </a:p>
        </p:txBody>
      </p:sp>
      <p:sp>
        <p:nvSpPr>
          <p:cNvPr id="298" name="Google Shape;298;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zh-TW"/>
              <a:t>The deadline of assignment 5 is </a:t>
            </a:r>
            <a:r>
              <a:rPr lang="zh-TW">
                <a:solidFill>
                  <a:srgbClr val="FF0000"/>
                </a:solidFill>
              </a:rPr>
              <a:t>202</a:t>
            </a:r>
            <a:r>
              <a:rPr lang="zh-TW">
                <a:solidFill>
                  <a:srgbClr val="FF0000"/>
                </a:solidFill>
              </a:rPr>
              <a:t>5</a:t>
            </a:r>
            <a:r>
              <a:rPr lang="zh-TW">
                <a:solidFill>
                  <a:srgbClr val="FF0000"/>
                </a:solidFill>
              </a:rPr>
              <a:t>/11/28  23:59</a:t>
            </a:r>
            <a:endParaRPr>
              <a:solidFill>
                <a:srgbClr val="FF0000"/>
              </a:solidFill>
            </a:endParaRPr>
          </a:p>
          <a:p>
            <a:pPr indent="-342900" lvl="0" marL="457200" rtl="0" algn="l">
              <a:lnSpc>
                <a:spcPct val="115000"/>
              </a:lnSpc>
              <a:spcBef>
                <a:spcPts val="0"/>
              </a:spcBef>
              <a:spcAft>
                <a:spcPts val="0"/>
              </a:spcAft>
              <a:buSzPts val="1800"/>
              <a:buChar char="●"/>
            </a:pPr>
            <a:r>
              <a:rPr lang="zh-TW"/>
              <a:t>Everyone is welcomed to ask questions on ntu cool.</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9975ea396d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9975ea396d_0_0"/>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sz="2850" u="sng">
                <a:solidFill>
                  <a:schemeClr val="hlink"/>
                </a:solidFill>
                <a:highlight>
                  <a:schemeClr val="dk2"/>
                </a:highlight>
                <a:latin typeface="Arial"/>
                <a:ea typeface="Arial"/>
                <a:cs typeface="Arial"/>
                <a:sym typeface="Arial"/>
                <a:hlinkClick r:id="rId3"/>
              </a:rPr>
              <a:t>https://learn.nvidia.com/dli-event</a:t>
            </a:r>
            <a:endParaRPr sz="2850">
              <a:solidFill>
                <a:srgbClr val="E2E5E9"/>
              </a:solidFill>
              <a:highlight>
                <a:schemeClr val="dk2"/>
              </a:highlight>
              <a:latin typeface="Arial"/>
              <a:ea typeface="Arial"/>
              <a:cs typeface="Arial"/>
              <a:sym typeface="Arial"/>
            </a:endParaRPr>
          </a:p>
          <a:p>
            <a:pPr indent="0" lvl="0" marL="0" rtl="0" algn="ctr">
              <a:spcBef>
                <a:spcPts val="0"/>
              </a:spcBef>
              <a:spcAft>
                <a:spcPts val="0"/>
              </a:spcAft>
              <a:buNone/>
            </a:pPr>
            <a:r>
              <a:rPr lang="zh-TW" sz="2850">
                <a:solidFill>
                  <a:srgbClr val="E2E5E9"/>
                </a:solidFill>
                <a:highlight>
                  <a:schemeClr val="dk2"/>
                </a:highlight>
                <a:latin typeface="Arial"/>
                <a:ea typeface="Arial"/>
                <a:cs typeface="Arial"/>
                <a:sym typeface="Arial"/>
              </a:rPr>
              <a:t>event code: NTU_CUDAP_AMBASSADOR_NO25</a:t>
            </a:r>
            <a:endParaRPr sz="3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