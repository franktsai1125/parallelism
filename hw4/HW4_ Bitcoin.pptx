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roxima Nova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5ff9edb5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5ff9edb5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2c2d5da12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2c2d5da12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c2d5da12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c2d5da12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c2d5da12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2c2d5da12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c2d5da12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2c2d5da12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c2d5da12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c2d5da12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2c2d5da12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2c2d5da12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2c2d5da121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2c2d5da12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58eac684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258eac684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c2d5da12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c2d5da12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2c2d5da12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2c2d5da12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2c2d5da12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2c2d5da12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2c2d5da12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2c2d5da12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c2d5da121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2c2d5da121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2c2d5da121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2c2d5da12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2c2d5da121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2c2d5da121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c2d5da121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c2d5da121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2c2d5da121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2c2d5da121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2c2d5da121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2c2d5da121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2c2d5da121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2c2d5da121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2c2d5da121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2c2d5da121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2c2d5da121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2c2d5da12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2c2d5da121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2c2d5da121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Proxima Nova"/>
              <a:buNone/>
              <a:defRPr sz="52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sz="20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P4gh-KSv023KWdMsEOOMY3OTLu0u1KYiTTvtPAAkgeI/edit?tab=t.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Cryptographic_hash_functio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tc.com/stats/dif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en.bitcoin.it/wiki/Difficulty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en.wikipedia.org/wiki/SHA-2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google.com/document/d/13usEqgizDrJ0rIAkD_9zo7R1-bACHrYfs9z0KUT2Wdo/edit?usp=sharing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HW4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Bitcoin Miner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Parallel Programming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2025/10/31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assignmen</a:t>
            </a:r>
            <a:r>
              <a:rPr lang="en"/>
              <a:t>t, you are going to </a:t>
            </a:r>
            <a:r>
              <a:rPr b="1" lang="en"/>
              <a:t>parallelize a bitcoin miner with CUDA</a:t>
            </a:r>
            <a:r>
              <a:rPr lang="en"/>
              <a:t>. You may use any techniques that you’ve learned in this class!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Please refer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the assignment’s specification</a:t>
            </a:r>
            <a:r>
              <a:rPr lang="en"/>
              <a:t> for detailed information about the assignment.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</a:t>
            </a:r>
            <a:r>
              <a:rPr lang="en"/>
              <a:t> Blockchain?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</a:t>
            </a:r>
            <a:r>
              <a:rPr lang="en"/>
              <a:t>lockchain is essentially a sequence of verified </a:t>
            </a:r>
            <a:r>
              <a:rPr b="1" lang="en"/>
              <a:t>blocks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block contains the information of transactions and metadata, including the hash value of its previous block.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Due to the property</a:t>
            </a:r>
            <a:r>
              <a:rPr lang="en"/>
              <a:t> of </a:t>
            </a:r>
            <a:r>
              <a:rPr lang="en" u="sng">
                <a:solidFill>
                  <a:schemeClr val="hlink"/>
                </a:solidFill>
                <a:hlinkClick r:id="rId3"/>
              </a:rPr>
              <a:t>cryptographic hash function</a:t>
            </a:r>
            <a:r>
              <a:rPr lang="en"/>
              <a:t>, If something is modified, it will be discovered </a:t>
            </a:r>
            <a:r>
              <a:rPr lang="en">
                <a:solidFill>
                  <a:schemeClr val="dk1"/>
                </a:solidFill>
              </a:rPr>
              <a:t>immediately</a:t>
            </a:r>
            <a:r>
              <a:rPr lang="en"/>
              <a:t>.</a:t>
            </a:r>
            <a:endParaRPr/>
          </a:p>
        </p:txBody>
      </p:sp>
      <p:grpSp>
        <p:nvGrpSpPr>
          <p:cNvPr id="68" name="Google Shape;68;p15"/>
          <p:cNvGrpSpPr/>
          <p:nvPr/>
        </p:nvGrpSpPr>
        <p:grpSpPr>
          <a:xfrm>
            <a:off x="1012756" y="2643082"/>
            <a:ext cx="7118496" cy="2322152"/>
            <a:chOff x="903050" y="2500075"/>
            <a:chExt cx="7337899" cy="2393725"/>
          </a:xfrm>
        </p:grpSpPr>
        <p:sp>
          <p:nvSpPr>
            <p:cNvPr id="69" name="Google Shape;69;p15"/>
            <p:cNvSpPr/>
            <p:nvPr/>
          </p:nvSpPr>
          <p:spPr>
            <a:xfrm>
              <a:off x="3515700" y="2500163"/>
              <a:ext cx="2112600" cy="23934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Block N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3635132" y="2797926"/>
              <a:ext cx="1873800" cy="15684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Header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767835" y="312408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Timestamp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767835" y="339612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Previous Hash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3767835" y="366816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Merkle Root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767835" y="394020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Nonce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3635132" y="4484288"/>
              <a:ext cx="18738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Transactions N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 flipH="1" rot="5400000">
              <a:off x="4900987" y="4020275"/>
              <a:ext cx="950400" cy="352200"/>
            </a:xfrm>
            <a:prstGeom prst="uturnArrow">
              <a:avLst>
                <a:gd fmla="val 21659" name="adj1"/>
                <a:gd fmla="val 25000" name="adj2"/>
                <a:gd fmla="val 24973" name="adj3"/>
                <a:gd fmla="val 43750" name="adj4"/>
                <a:gd fmla="val 100000" name="adj5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128349" y="2500163"/>
              <a:ext cx="2112600" cy="23934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Block N+1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6247781" y="2797926"/>
              <a:ext cx="1873800" cy="15684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Header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6380484" y="312408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Timestamp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380484" y="339612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Previous Hash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6380484" y="366816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Merkle Root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6380484" y="394020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Nonce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6247781" y="4484288"/>
              <a:ext cx="18738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Transactions N+1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 flipH="1" rot="5400000">
              <a:off x="7549849" y="4060775"/>
              <a:ext cx="950400" cy="271200"/>
            </a:xfrm>
            <a:prstGeom prst="uturnArrow">
              <a:avLst>
                <a:gd fmla="val 21659" name="adj1"/>
                <a:gd fmla="val 25000" name="adj2"/>
                <a:gd fmla="val 24973" name="adj3"/>
                <a:gd fmla="val 43750" name="adj4"/>
                <a:gd fmla="val 100000" name="adj5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903050" y="2500163"/>
              <a:ext cx="2112600" cy="23934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Block N-1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022482" y="2797926"/>
              <a:ext cx="1873800" cy="15684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Header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155185" y="312408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Timestamp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155185" y="339612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onsolas"/>
                  <a:ea typeface="Consolas"/>
                  <a:cs typeface="Consolas"/>
                  <a:sym typeface="Consolas"/>
                </a:rPr>
                <a:t>Previous Hash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155185" y="366816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Merkle Root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1155185" y="3940207"/>
              <a:ext cx="16083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Nonce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1022482" y="4484288"/>
              <a:ext cx="1873800" cy="272100"/>
            </a:xfrm>
            <a:prstGeom prst="rect">
              <a:avLst/>
            </a:prstGeom>
            <a:noFill/>
            <a:ln cap="flat" cmpd="sng" w="9525">
              <a:solidFill>
                <a:srgbClr val="282C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Transactions N-1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 flipH="1" rot="5400000">
              <a:off x="2330126" y="4057775"/>
              <a:ext cx="950400" cy="277200"/>
            </a:xfrm>
            <a:prstGeom prst="uturnArrow">
              <a:avLst>
                <a:gd fmla="val 21659" name="adj1"/>
                <a:gd fmla="val 25000" name="adj2"/>
                <a:gd fmla="val 24973" name="adj3"/>
                <a:gd fmla="val 43750" name="adj4"/>
                <a:gd fmla="val 100000" name="adj5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5628325" y="2500075"/>
              <a:ext cx="752100" cy="896100"/>
            </a:xfrm>
            <a:prstGeom prst="rtTriangle">
              <a:avLst/>
            </a:prstGeom>
            <a:solidFill>
              <a:srgbClr val="C9DAF8">
                <a:alpha val="67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 rot="5400000">
              <a:off x="5389312" y="3907250"/>
              <a:ext cx="1225500" cy="747600"/>
            </a:xfrm>
            <a:prstGeom prst="rtTriangle">
              <a:avLst/>
            </a:prstGeom>
            <a:solidFill>
              <a:srgbClr val="C9DAF8">
                <a:alpha val="67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5628325" y="3396171"/>
              <a:ext cx="752100" cy="272100"/>
            </a:xfrm>
            <a:prstGeom prst="rect">
              <a:avLst/>
            </a:prstGeom>
            <a:solidFill>
              <a:srgbClr val="C9DAF8">
                <a:alpha val="67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3015787" y="2500075"/>
              <a:ext cx="752100" cy="896100"/>
            </a:xfrm>
            <a:prstGeom prst="rtTriangle">
              <a:avLst/>
            </a:prstGeom>
            <a:solidFill>
              <a:srgbClr val="C9DAF8">
                <a:alpha val="67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5400000">
              <a:off x="2776773" y="3907250"/>
              <a:ext cx="1225500" cy="747600"/>
            </a:xfrm>
            <a:prstGeom prst="rtTriangle">
              <a:avLst/>
            </a:prstGeom>
            <a:solidFill>
              <a:srgbClr val="C9DAF8">
                <a:alpha val="67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3015787" y="3396171"/>
              <a:ext cx="752100" cy="272100"/>
            </a:xfrm>
            <a:prstGeom prst="rect">
              <a:avLst/>
            </a:prstGeom>
            <a:solidFill>
              <a:srgbClr val="C9DAF8">
                <a:alpha val="67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Block?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152475"/>
            <a:ext cx="8520600" cy="3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</a:t>
            </a:r>
            <a:r>
              <a:rPr lang="en"/>
              <a:t>lock is a data structure containing the information of transactions and metadata. It consists of two parts: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Header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Version number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Hash of the previous block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Merkle root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Timestamp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Target </a:t>
            </a:r>
            <a:r>
              <a:rPr lang="en"/>
              <a:t>Difficulty (encoded in Bits)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Body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Transaction counter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List of transaction records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…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412" y="2167250"/>
            <a:ext cx="4193518" cy="245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of Bitcoin Miner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job of a miner is to create and add blocks to the blockchain by </a:t>
            </a:r>
            <a:r>
              <a:rPr lang="en"/>
              <a:t>following</a:t>
            </a:r>
            <a:r>
              <a:rPr lang="en"/>
              <a:t> steps: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Gather transactions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the block header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the proper nonce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Broadcast the block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Receive rewards </a:t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7862" y="1861550"/>
            <a:ext cx="4193518" cy="245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6979350" y="3046525"/>
            <a:ext cx="2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hash &lt; Target 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Difficulty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Merkle Tree?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Merkle tree is a binary tree in which </a:t>
            </a:r>
            <a:r>
              <a:rPr lang="en" u="sng"/>
              <a:t>every leaf node is the hash of a data block</a:t>
            </a:r>
            <a:r>
              <a:rPr lang="en"/>
              <a:t>, and </a:t>
            </a:r>
            <a:r>
              <a:rPr lang="en" u="sng"/>
              <a:t>every inner node is the hash its children</a:t>
            </a:r>
            <a:r>
              <a:rPr lang="en"/>
              <a:t>. Merkle tree allows </a:t>
            </a:r>
            <a:r>
              <a:rPr b="1" lang="en"/>
              <a:t>efficient and secure verification of the contents of a large data structure</a:t>
            </a:r>
            <a:r>
              <a:rPr lang="en"/>
              <a:t>. 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63" y="2656713"/>
            <a:ext cx="4753675" cy="19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5489538" y="3154700"/>
            <a:ext cx="32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aseline="-25000" lang="en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SHA256(SHA256(TxA))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aseline="-25000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SHA256(SHA256(TxB))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aseline="-25000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SHA256(SHA256(H</a:t>
            </a:r>
            <a:r>
              <a:rPr baseline="-25000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+H</a:t>
            </a:r>
            <a:r>
              <a:rPr baseline="-25000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452863" y="4719725"/>
            <a:ext cx="769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Credit: https://www.oreilly.com/library/view/mastering-bitcoin/9781491902639/ch07.html</a:t>
            </a:r>
            <a:endParaRPr sz="10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Generation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1152475"/>
            <a:ext cx="8520600" cy="3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parent node is generated by </a:t>
            </a:r>
            <a:r>
              <a:rPr b="1" lang="en"/>
              <a:t>double SHA-256 function</a:t>
            </a:r>
            <a:endParaRPr b="1"/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Each child node is hashed by SHA-256 TWICE.</a:t>
            </a:r>
            <a:endParaRPr sz="1400"/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results (HA and HB) are summed together.</a:t>
            </a:r>
            <a:endParaRPr sz="1400"/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sum is then hashed AGAIN by SHA-256 TWICE.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procedure is repeated again and again, until the root node is reached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3018675" y="4119200"/>
            <a:ext cx="320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aseline="-25000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AB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SHA256(SHA256(H</a:t>
            </a:r>
            <a:r>
              <a:rPr baseline="-25000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+H</a:t>
            </a:r>
            <a:r>
              <a:rPr baseline="-25000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19"/>
          <p:cNvSpPr/>
          <p:nvPr/>
        </p:nvSpPr>
        <p:spPr>
          <a:xfrm rot="-1798125">
            <a:off x="3731760" y="3650423"/>
            <a:ext cx="133326" cy="39246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 rot="1798125">
            <a:off x="5351758" y="3655944"/>
            <a:ext cx="133326" cy="39071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1576150" y="3249950"/>
            <a:ext cx="320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aseline="-25000" lang="en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SHA256(SHA256(TxA))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4152275" y="3249950"/>
            <a:ext cx="320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aseline="-25000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SHA256(SHA256(TxB))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Merkle Root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</a:t>
            </a:r>
            <a:r>
              <a:rPr lang="en"/>
              <a:t>root is called Merkle root. It represents the entire data set, and any change in the data would result in a different Merkle root.</a:t>
            </a: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925" y="2274250"/>
            <a:ext cx="7250150" cy="209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725400" y="4466925"/>
            <a:ext cx="769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Credit: https://www.oreilly.com/library/view/mastering-bitcoin/9781491902639/ch07.html</a:t>
            </a:r>
            <a:endParaRPr sz="10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</a:t>
            </a:r>
            <a:r>
              <a:rPr lang="en"/>
              <a:t>Difficulty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311700" y="1152475"/>
            <a:ext cx="8520600" cy="3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to maintain a consistent block generation rate and ensure that the blockchain remains secure and stable.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>
                <a:solidFill>
                  <a:schemeClr val="dk1"/>
                </a:solidFill>
              </a:rPr>
              <a:t>Target</a:t>
            </a:r>
            <a:r>
              <a:rPr lang="en"/>
              <a:t> Difficulty is a value to determine how difficult it is to find out a proper hash for the block header by requiring hash &lt; Target </a:t>
            </a:r>
            <a:r>
              <a:rPr lang="en">
                <a:solidFill>
                  <a:schemeClr val="dk1"/>
                </a:solidFill>
              </a:rPr>
              <a:t>Difficulty</a:t>
            </a:r>
            <a:r>
              <a:rPr lang="en"/>
              <a:t>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>
                <a:solidFill>
                  <a:schemeClr val="dk1"/>
                </a:solidFill>
              </a:rPr>
              <a:t>Target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Difficulty </a:t>
            </a:r>
            <a:r>
              <a:rPr lang="en"/>
              <a:t>conforms to the following rules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a 256-bit number, encoded by a field called “bits” (in 4 bytes)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has N leading zeros. Currently, N equals 76 (year 2022).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 is determined by the Bitcoin network.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adjusted such that a new block is computed every 10 minutes (on average)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may check current difficulty here: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https://btc.com/stats/diff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Nonce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Nonce is a 32-bit value in the block header.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</a:t>
            </a:r>
            <a:r>
              <a:rPr lang="en"/>
              <a:t>iner needs to </a:t>
            </a:r>
            <a:r>
              <a:rPr lang="en">
                <a:solidFill>
                  <a:schemeClr val="dk1"/>
                </a:solidFill>
              </a:rPr>
              <a:t>find</a:t>
            </a:r>
            <a:r>
              <a:rPr lang="en">
                <a:solidFill>
                  <a:schemeClr val="dk1"/>
                </a:solidFill>
              </a:rPr>
              <a:t> a proper nonce such that the hash of the block header is less than the current Target Difficulty.</a:t>
            </a:r>
            <a:endParaRPr/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475" y="2484725"/>
            <a:ext cx="3951050" cy="231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/>
        </p:nvSpPr>
        <p:spPr>
          <a:xfrm>
            <a:off x="5317600" y="3545050"/>
            <a:ext cx="338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Block header h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ash &lt; Target 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Difficulty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of the Assignment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</a:t>
            </a:r>
            <a:r>
              <a:rPr lang="en"/>
              <a:t>ind a proper nonce for </a:t>
            </a:r>
            <a:r>
              <a:rPr lang="en"/>
              <a:t>a</a:t>
            </a:r>
            <a:r>
              <a:rPr lang="en"/>
              <a:t> given block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hash of the block header has to be less than the </a:t>
            </a:r>
            <a:r>
              <a:rPr lang="en"/>
              <a:t>given </a:t>
            </a:r>
            <a:r>
              <a:rPr lang="en"/>
              <a:t>Target Difficulty.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time you spent on finding the hash value has to be accelerated.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any techniques that you’ve learned in this class!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Code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Read input.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Calculate the merkle root from transactions.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Decode the </a:t>
            </a:r>
            <a:r>
              <a:rPr lang="en">
                <a:solidFill>
                  <a:schemeClr val="dk1"/>
                </a:solidFill>
              </a:rPr>
              <a:t>Target Difficulty.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a proper nonce, such that the hash value of the block header satisfies the requirement.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nonce = 0X00000000 to 0Xffffffff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calculate a hash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the hash value &lt; Target Difficulty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Code - Header Extraction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1 : Read input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several fields in the block header that you have to extract.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4572000" y="1152475"/>
            <a:ext cx="4260300" cy="3724800"/>
          </a:xfrm>
          <a:prstGeom prst="rect">
            <a:avLst/>
          </a:prstGeom>
          <a:solidFill>
            <a:srgbClr val="24272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5C6370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// **** read data *****</a:t>
            </a:r>
            <a:endParaRPr b="1" i="1" sz="1000">
              <a:solidFill>
                <a:srgbClr val="5C6370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E06C75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version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E06C75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prevhash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E06C75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ntime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E06C75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nbits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tx;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raw_merkle_branch;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merkle_branch;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getline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(version, 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, fin);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getline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(prevhash, 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, fin);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getline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(ntime, 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, fin);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getline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(nbits, 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, fin);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fscanf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(fin, </a:t>
            </a:r>
            <a:r>
              <a:rPr b="1" lang="en" sz="1000">
                <a:solidFill>
                  <a:srgbClr val="98C379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b="1" lang="en" sz="1000">
                <a:solidFill>
                  <a:srgbClr val="56B6C2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000">
                <a:solidFill>
                  <a:srgbClr val="98C379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tx);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"start hashing"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raw_merkle_branch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[tx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merkle_branch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[tx];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i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;i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tx;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E06C75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merkle_branch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[i]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raw_merkle_branch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61AFE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getline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E06C75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merkle_branch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[i], 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, fin);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E06C75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merkle_branch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[i][</a:t>
            </a:r>
            <a:r>
              <a:rPr b="1" lang="en" sz="1000">
                <a:solidFill>
                  <a:srgbClr val="D19A66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1" lang="en" sz="1000">
                <a:solidFill>
                  <a:srgbClr val="C678DD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98C379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1" lang="en" sz="1000">
                <a:solidFill>
                  <a:srgbClr val="56B6C2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\0</a:t>
            </a:r>
            <a:r>
              <a:rPr b="1" lang="en" sz="1000">
                <a:solidFill>
                  <a:srgbClr val="98C379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ABB2BF"/>
              </a:solidFill>
              <a:highlight>
                <a:srgbClr val="24272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highlight>
                  <a:srgbClr val="24272D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highlight>
                <a:srgbClr val="24272D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Code - Header Fields</a:t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311700" y="1152475"/>
            <a:ext cx="8520600" cy="10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representative header fields of a block is depicted below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Please have a comparison with pages 4.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information has to be extracted first before we carrying out the calculation.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case01.in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813600" y="2416675"/>
            <a:ext cx="5546400" cy="2548500"/>
          </a:xfrm>
          <a:prstGeom prst="rect">
            <a:avLst/>
          </a:prstGeom>
          <a:solidFill>
            <a:srgbClr val="24272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20000000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0000000000000000003348540cbfc68b70825e7abcd5a83a48a5f87fa7f1aace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5ac22f8b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17502ab7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2094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c6574adb277efbfb972658ab78b1277707a967076cfc90d6af800cd8a915396d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c01c33240ba97fb6db2b98fbaf7e4211fe3b59585372994bdac1b96b1c9be0d3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abce7b2b30ff62b4998864db6a1ea77db8eb33d3f6abe3f981e0d2802c999042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fd463aca59df1302c8f08e8070b56bd64ebe0cf35ba68cd5b39d208a2ff50053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4321318516cb6630e3b3caa29bd49227168a69d170e1110c220b3c30d15f913c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f1f452e09dad935a67499a24e388d61fd7f0f38c97a2a92c73b2fd7019a85578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dd24a8e3f419006cd2f7cb3336b605fa6c2898accecac3d0a844c2ae8f5f53d9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6360000" y="2416675"/>
            <a:ext cx="2267400" cy="2548500"/>
          </a:xfrm>
          <a:prstGeom prst="rect">
            <a:avLst/>
          </a:prstGeom>
          <a:solidFill>
            <a:srgbClr val="43434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Number of blocks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Version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Previous block hash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Bits (packed difficulty)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Number of transactions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Transactions</a:t>
            </a:r>
            <a:endParaRPr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Code - Merkle Root</a:t>
            </a:r>
            <a:endParaRPr/>
          </a:p>
        </p:txBody>
      </p:sp>
      <p:sp>
        <p:nvSpPr>
          <p:cNvPr id="188" name="Google Shape;188;p2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2：Calculate the merkle root from transactions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merkle root is calculated by a function provided by the TA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are encouraged to take a look of its implementation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4572000" y="1555800"/>
            <a:ext cx="4260300" cy="2031900"/>
          </a:xfrm>
          <a:prstGeom prst="rect">
            <a:avLst/>
          </a:prstGeom>
          <a:solidFill>
            <a:srgbClr val="24272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5C6370"/>
                </a:solidFill>
                <a:latin typeface="Courier New"/>
                <a:ea typeface="Courier New"/>
                <a:cs typeface="Courier New"/>
                <a:sym typeface="Courier New"/>
              </a:rPr>
              <a:t>// **** calculate merkle root ****</a:t>
            </a:r>
            <a:endParaRPr b="1" i="1" sz="1000">
              <a:solidFill>
                <a:srgbClr val="5C637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merkle_root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calc_merkle_root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(merkle_root, tx, merkle_branch);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"merkle root(little): 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print_hex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(merkle_root, 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56B6C2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"merkle root(big):    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print_hex_inverse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(merkle_root, 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56B6C2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1" sz="1000">
              <a:solidFill>
                <a:srgbClr val="5C63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Code - </a:t>
            </a:r>
            <a:r>
              <a:rPr lang="en"/>
              <a:t>Target Difficulty </a:t>
            </a:r>
            <a:endParaRPr/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311700" y="1152475"/>
            <a:ext cx="4491600" cy="22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3：Decode the </a:t>
            </a:r>
            <a:r>
              <a:rPr lang="en">
                <a:solidFill>
                  <a:schemeClr val="dk1"/>
                </a:solidFill>
              </a:rPr>
              <a:t>Target Difficulty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decoded from a number called nbits.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decode algorithm is already implemented by us (shown below).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interested in that algorithm, please take a look of this </a:t>
            </a:r>
            <a:r>
              <a:rPr lang="en" u="sng">
                <a:solidFill>
                  <a:schemeClr val="hlink"/>
                </a:solidFill>
                <a:hlinkClick r:id="rId3"/>
              </a:rPr>
              <a:t>website</a:t>
            </a:r>
            <a:r>
              <a:rPr lang="en"/>
              <a:t>.</a:t>
            </a:r>
            <a:endParaRPr/>
          </a:p>
        </p:txBody>
      </p:sp>
      <p:sp>
        <p:nvSpPr>
          <p:cNvPr id="196" name="Google Shape;196;p28"/>
          <p:cNvSpPr txBox="1"/>
          <p:nvPr/>
        </p:nvSpPr>
        <p:spPr>
          <a:xfrm>
            <a:off x="4666950" y="1709850"/>
            <a:ext cx="4260300" cy="1723800"/>
          </a:xfrm>
          <a:prstGeom prst="rect">
            <a:avLst/>
          </a:prstGeom>
          <a:solidFill>
            <a:srgbClr val="24272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5C6370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// ********** calculate target value *********</a:t>
            </a:r>
            <a:endParaRPr b="1" i="1" sz="1000">
              <a:solidFill>
                <a:srgbClr val="5C6370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5C6370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// calculate target value from encoded difficulty which is encoded on "nbits"</a:t>
            </a:r>
            <a:endParaRPr b="1" i="1" sz="1000">
              <a:solidFill>
                <a:srgbClr val="5C6370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exp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nbits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&gt;&gt;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mant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nbits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0xffffff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E06C75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target_hex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0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{};</a:t>
            </a:r>
            <a:endParaRPr b="1" sz="10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shift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(exp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sb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shift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rb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shift </a:t>
            </a:r>
            <a:r>
              <a:rPr b="1" lang="en" sz="1000">
                <a:solidFill>
                  <a:srgbClr val="C678DD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" sz="1000">
                <a:solidFill>
                  <a:srgbClr val="ABB2BF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ABB2BF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311700" y="3489300"/>
            <a:ext cx="85206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Example: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Bits: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0x</a:t>
            </a:r>
            <a:r>
              <a:rPr lang="en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09f8d9</a:t>
            </a:r>
            <a:endParaRPr>
              <a:solidFill>
                <a:srgbClr val="3C78D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Target = </a:t>
            </a:r>
            <a:r>
              <a:rPr lang="en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0x09f8d9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2 ** (8 * (0x</a:t>
            </a:r>
            <a:r>
              <a:rPr lang="en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- 3))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0x0000000000000000000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9f8d90000000000000000000000000000000000000000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Code - Nonce</a:t>
            </a:r>
            <a:endParaRPr/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4 : Find a proper nonce, such that the hash value of the block header satisfies the requirement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Try if you can figure out a way to parallelize and accelerate the code.</a:t>
            </a:r>
            <a:endParaRPr/>
          </a:p>
        </p:txBody>
      </p:sp>
      <p:sp>
        <p:nvSpPr>
          <p:cNvPr id="204" name="Google Shape;204;p29"/>
          <p:cNvSpPr txBox="1"/>
          <p:nvPr/>
        </p:nvSpPr>
        <p:spPr>
          <a:xfrm>
            <a:off x="311700" y="2213675"/>
            <a:ext cx="8520600" cy="2647500"/>
          </a:xfrm>
          <a:prstGeom prst="rect">
            <a:avLst/>
          </a:prstGeom>
          <a:solidFill>
            <a:srgbClr val="24272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nonce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0x00000000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nonce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0xffffffff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nonce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5C6370"/>
                </a:solidFill>
                <a:latin typeface="Courier New"/>
                <a:ea typeface="Courier New"/>
                <a:cs typeface="Courier New"/>
                <a:sym typeface="Courier New"/>
              </a:rPr>
              <a:t>   //sha256d</a:t>
            </a:r>
            <a:endParaRPr b="1" i="1" sz="1000">
              <a:solidFill>
                <a:srgbClr val="5C637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double_sha256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sha256_ctx, (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char*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block,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(block));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nonce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1000000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"hash #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%10u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(big): 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nonce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print_hex_inverse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sha256_ctx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56B6C2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little_endian_bit_comparison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sha256_ctx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, target_hex, 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r>
              <a:rPr b="1" i="1" lang="en" sz="1000">
                <a:solidFill>
                  <a:srgbClr val="5C6370"/>
                </a:solidFill>
                <a:latin typeface="Courier New"/>
                <a:ea typeface="Courier New"/>
                <a:cs typeface="Courier New"/>
                <a:sym typeface="Courier New"/>
              </a:rPr>
              <a:t> // sha256_ctx &lt; target_hex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"Found Solution!!</a:t>
            </a:r>
            <a:r>
              <a:rPr b="1" lang="en" sz="1000">
                <a:solidFill>
                  <a:srgbClr val="56B6C2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"hash #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%10u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(big): 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nonce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print_hex_inverse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sha256_ctx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D19A66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56B6C2"/>
                </a:solidFill>
                <a:latin typeface="Courier New"/>
                <a:ea typeface="Courier New"/>
                <a:cs typeface="Courier New"/>
                <a:sym typeface="Courier New"/>
              </a:rPr>
              <a:t>\n\n</a:t>
            </a:r>
            <a:r>
              <a:rPr b="1" lang="en" sz="1000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000">
              <a:solidFill>
                <a:srgbClr val="ABB2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1" sz="1000">
              <a:solidFill>
                <a:srgbClr val="5C63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Code - SHA-256</a:t>
            </a:r>
            <a:endParaRPr/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SHA-256 implementation for the sequential version can be found at: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sha256.h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sha256.cu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are interested in the </a:t>
            </a:r>
            <a:r>
              <a:rPr lang="en"/>
              <a:t>implementation</a:t>
            </a:r>
            <a:r>
              <a:rPr lang="en"/>
              <a:t> details, please take a look at the following website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https://en.wikipedia.org/wiki/SHA-2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cases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provide several test cases for you to test your program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execution time of the sequential code are given below: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case00.in :  about 1 hr 15 min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case01.in :  about 1 hr 15 min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case02.in :  about  30 min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case03.in :  about 11 min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Please keep in mind that your goal is to parallelize the mining algorithm and accelerating it.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It has to be faster than the sequential version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</a:t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Correctness (50%)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Please make sure to use GPU and verify your answer.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(20%)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will grade the performance of your assignments against the other students in the class.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Report (30%)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Please describe, in detail, how you parallelize your codes as well as your optimization methodology.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Advanced CUDA skills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are welcome to use streaming, page-lock memory, asynchronous memory copy, or any other advanced skills.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will get credits if you are able to optimize the other parts of the source codes.  Please justify your solutions and provide a detailed comparison in your report.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 - Report</a:t>
            </a:r>
            <a:endParaRPr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your report, please include the following parts: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Describe the design/overview of your implementation briefly.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parallelization and optimization techniques you used in your solution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Experiments of various combinations of the number of blocks &amp; threads (at least 8 combinations) and plot them with the figures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Describe the details if you use advanced CUDA skills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(Optional)  Any suggestions or feedback for the homework is welcome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234" name="Google Shape;23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Please zip the following files to a single archived file named &lt;StudentID&gt;.tar: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hw4.cu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sha256.cu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sha256.h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report.pdf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Makefile (optional)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Please make sure your </a:t>
            </a:r>
            <a:r>
              <a:rPr lang="en">
                <a:solidFill>
                  <a:schemeClr val="dk1"/>
                </a:solidFill>
              </a:rPr>
              <a:t>Makefile</a:t>
            </a:r>
            <a:r>
              <a:rPr lang="en"/>
              <a:t> works properly </a:t>
            </a:r>
            <a:r>
              <a:rPr lang="en">
                <a:solidFill>
                  <a:schemeClr val="dk1"/>
                </a:solidFill>
              </a:rPr>
              <a:t>(Your Makefile should build executable binary hw4) </a:t>
            </a:r>
            <a:r>
              <a:rPr lang="en"/>
              <a:t>and your program can run before submitting your assignment 4.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</a:t>
            </a:r>
            <a:endParaRPr/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are doing hash, there may be a situation multiple nonce can satisfies the requirement hash value &lt; Target Difficulty.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accept all nonce satisfies the requirement, so don’t worry if your nonce isn’t same as our provided solutions.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ensure that all the testcases have more than one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160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Please refer to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assignment’s specification</a:t>
            </a:r>
            <a:r>
              <a:rPr lang="en">
                <a:solidFill>
                  <a:schemeClr val="dk1"/>
                </a:solidFill>
              </a:rPr>
              <a:t> for detailed information about the assignment.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Deadline</a:t>
            </a:r>
            <a:endParaRPr/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deadline of assignment 4 is </a:t>
            </a:r>
            <a:r>
              <a:rPr lang="en">
                <a:solidFill>
                  <a:srgbClr val="FF0000"/>
                </a:solidFill>
              </a:rPr>
              <a:t>11</a:t>
            </a:r>
            <a:r>
              <a:rPr lang="en">
                <a:solidFill>
                  <a:srgbClr val="FF0000"/>
                </a:solidFill>
              </a:rPr>
              <a:t>/14 (Fri.), 23:59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is welcomed to ask questions on NTU cool.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